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79" r:id="rId27"/>
    <p:sldId id="280" r:id="rId28"/>
    <p:sldId id="269" r:id="rId17"/>
    <p:sldId id="268" r:id="rId16"/>
    <p:sldId id="271" r:id="rId19"/>
    <p:sldId id="276" r:id="rId24"/>
    <p:sldId id="262" r:id="rId10"/>
    <p:sldId id="263" r:id="rId11"/>
    <p:sldId id="264" r:id="rId12"/>
    <p:sldId id="265" r:id="rId13"/>
    <p:sldId id="266" r:id="rId14"/>
    <p:sldId id="282" r:id="rId30"/>
    <p:sldId id="274" r:id="rId22"/>
    <p:sldId id="277" r:id="rId25"/>
    <p:sldId id="275" r:id="rId23"/>
    <p:sldId id="273" r:id="rId21"/>
    <p:sldId id="270" r:id="rId18"/>
    <p:sldId id="272" r:id="rId20"/>
    <p:sldId id="267" r:id="rId15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30" Type="http://schemas.openxmlformats.org/officeDocument/2006/relationships/slide" Target="slides/slide27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Один лучший борт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6 км², 4 борта</c:v>
                </c:pt>
                <c:pt idx="1">
                  <c:v>Геофизика</c:v>
                </c:pt>
                <c:pt idx="2">
                  <c:v>LiDAR</c:v>
                </c:pt>
                <c:pt idx="3">
                  <c:v>Ветер 11 м/с</c:v>
                </c:pt>
                <c:pt idx="4">
                  <c:v>110 км²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1.43</c:v>
                </c:pt>
                <c:pt idx="1">
                  <c:v>2.08</c:v>
                </c:pt>
                <c:pt idx="2">
                  <c:v>1.91</c:v>
                </c:pt>
                <c:pt idx="3">
                  <c:v>1.07</c:v>
                </c:pt>
                <c:pt idx="4">
                  <c:v>2.07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Оператор: доли ∝ производительности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6 км², 4 борта</c:v>
                </c:pt>
                <c:pt idx="1">
                  <c:v>Геофизика</c:v>
                </c:pt>
                <c:pt idx="2">
                  <c:v>LiDAR</c:v>
                </c:pt>
                <c:pt idx="3">
                  <c:v>Ветер 11 м/с</c:v>
                </c:pt>
                <c:pt idx="4">
                  <c:v>110 км²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1.59</c:v>
                </c:pt>
                <c:pt idx="1">
                  <c:v>1.05</c:v>
                </c:pt>
                <c:pt idx="2">
                  <c:v>0.99</c:v>
                </c:pt>
                <c:pt idx="3">
                  <c:v>1.05</c:v>
                </c:pt>
                <c:pt idx="4">
                  <c:v>1.02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0.030341"/>
          <c:y val="0.938201"/>
          <c:w val="0.947401"/>
          <c:h val="0.061799"/>
        </c:manualLayout>
      </c:layout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5"/>
          <c:w val="0.864242"/>
          <c:h val="0.667471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Время расчёта, с (8 бортов)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</c:dPt>
          <c:cat>
            <c:strRef>
              <c:f>Sheet1!$A$2:$A$6</c:f>
              <c:strCache>
                <c:ptCount val="5"/>
                <c:pt idx="0">
                  <c:v>400 км²</c:v>
                </c:pt>
                <c:pt idx="1">
                  <c:v>144 км²</c:v>
                </c:pt>
                <c:pt idx="2">
                  <c:v>64 км²</c:v>
                </c:pt>
                <c:pt idx="3">
                  <c:v>16 км²</c:v>
                </c:pt>
                <c:pt idx="4">
                  <c:v>4 км²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16.6</c:v>
                </c:pt>
                <c:pt idx="1">
                  <c:v>2.0</c:v>
                </c:pt>
                <c:pt idx="2">
                  <c:v>1.7</c:v>
                </c:pt>
                <c:pt idx="3">
                  <c:v>7.3</c:v>
                </c:pt>
                <c:pt idx="4">
                  <c:v>5.0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1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10178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85097713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2135623610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958448376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1856204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6260931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Представить команду и задачу: сервис, который распределяет авиационные работы между бортами парка Геоскан и строит каждому полётное задание.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B1709-5DF9-CE8B-0D80-8745F926D7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в двух фразах. Поля в квадратных скобках заполнить данными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23F6AF-8853-C780-7376-4883F15C75A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205491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4731758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Заполнить карточки участников; лишние карточки удалить вместе с рамкой и фото.</a:t>
            </a:r>
          </a:p>
        </p:txBody>
      </p:sp>
      <p:sp>
        <p:nvSpPr>
          <p:cNvPr id="23928911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3535572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994709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Первый блок — история команды, заполнить. Сложности — реальные, из разработки.</a:t>
            </a:r>
          </a:p>
        </p:txBody>
      </p:sp>
      <p:sp>
        <p:nvSpPr>
          <p:cNvPr id="211013245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и прикладная суть. Цифры — из docs/benchmark.md (30 случайных сценариев).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D26D26-150F-1601-6C86-E64DD6FC3C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295630-3AF7-5BF1-E34C-ACD190C2EB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Данные из чата задачи (22–23.09). Формат — docs/data_formats.md, сценарий moscow_real.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19A5BB-B292-E329-E934-2CB71EB1F2E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97750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984995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Показать живое демо: сценарий demo_basic → «Рассчитать план» → «Сравнить варианты».</a:t>
            </a:r>
          </a:p>
        </p:txBody>
      </p:sp>
      <p:sp>
        <p:nvSpPr>
          <p:cNvPr id="178988196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A13F91-E62E-B99F-C54D-D2D8B7BE6D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Источники: Choset 2000, Huang 2001, Coombes 2017, Dubins 1957, Lozano-Pérez 1979, Beasley 1983, Maza &amp; Ollero 2007, DARP 2017, Mavrotas 2009 — docs/algorithm.md.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9DC001-179D-2539-A791-0D4521E23FE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1380DB-6083-FD50-4C3F-2BA69E6842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B3BBE7-F228-6DAE-D5FF-8C62F6E91F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Сверху справа — магнитная съёмка (секущие маршруты пунктиром), ниже — LiDAR, слева — 110 км².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2747C7-A1D5-9EB8-332B-A2E71370666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2B22DF-35AC-1BF6-F6A5-EE2C68E04B4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Диаграмма: во сколько раз дольше работы при базовых подходах, чем по нашему плану (=1). Все подходы считает одна модель полёта, отличается только распределение работы. Данные — docs/benchmark.md, воспроизводится python bench/benchmark.py.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3CFF08-323F-D057-3D49-9CCCB58651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Диаграмма — время расчёта, секунды, парк из 8 бортов (201 и Gemini поровну). Планировщик занимает одно ядро; пул процессов нужен фронту Парето и советнику.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2BFEF3-99C6-0050-A88B-8DAB2274D3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F0089-4AAB-ABF9-9667-9C54CDA89C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D50722-510C-DA7E-4B19-3B7ED33ABF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B0AF51-E3D1-937D-7F90-A91115B4C80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630666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14161200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780567976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49461198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531442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42204295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6809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18.09.2026</a:t>
            </a:fld>
            <a:endParaRPr lang="ru-RU"/>
          </a:p>
        </p:txBody>
      </p:sp>
      <p:sp>
        <p:nvSpPr>
          <p:cNvPr id="213670545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9645699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9277275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2041206886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952672101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93192543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43537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3028029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73367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18.09.2026</a:t>
            </a:fld>
            <a:endParaRPr lang="ru-RU"/>
          </a:p>
        </p:txBody>
      </p:sp>
      <p:sp>
        <p:nvSpPr>
          <p:cNvPr id="202779636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597802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833968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4675470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18.09.2026</a:t>
            </a:fld>
            <a:endParaRPr lang="ru-RU"/>
          </a:p>
        </p:txBody>
      </p:sp>
      <p:sp>
        <p:nvSpPr>
          <p:cNvPr id="9450507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3948761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945174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622833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87977010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7620513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18.09.2026</a:t>
            </a:fld>
            <a:endParaRPr lang="ru-RU"/>
          </a:p>
        </p:txBody>
      </p:sp>
      <p:sp>
        <p:nvSpPr>
          <p:cNvPr id="7119919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47019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7883871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35881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1969558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707843199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5748073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6261265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18.09.2026</a:t>
            </a:fld>
            <a:endParaRPr lang="ru-RU"/>
          </a:p>
        </p:txBody>
      </p:sp>
      <p:sp>
        <p:nvSpPr>
          <p:cNvPr id="1692687120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16553507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7196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24600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18.09.2026</a:t>
            </a:fld>
            <a:endParaRPr lang="ru-RU"/>
          </a:p>
        </p:txBody>
      </p:sp>
      <p:sp>
        <p:nvSpPr>
          <p:cNvPr id="112345031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313743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083343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5247779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86376593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8421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18.09.2026</a:t>
            </a:fld>
            <a:endParaRPr lang="ru-RU"/>
          </a:p>
        </p:txBody>
      </p:sp>
      <p:sp>
        <p:nvSpPr>
          <p:cNvPr id="82874870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3844057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33802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18.09.2026</a:t>
            </a:fld>
            <a:endParaRPr lang="ru-RU"/>
          </a:p>
        </p:txBody>
      </p:sp>
      <p:sp>
        <p:nvSpPr>
          <p:cNvPr id="139869319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09491967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270924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0405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18.09.2026</a:t>
            </a:fld>
            <a:endParaRPr lang="ru-RU"/>
          </a:p>
        </p:txBody>
      </p:sp>
      <p:sp>
        <p:nvSpPr>
          <p:cNvPr id="8595318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711768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65513835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25427872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824042867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0356032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648971304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855131671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48147020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37356032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1969089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856529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031920686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392612826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137583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41501527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1133029684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630331325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1264559755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078365953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21611495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722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18.09.2026</a:t>
            </a:fld>
            <a:endParaRPr lang="ru-RU"/>
          </a:p>
        </p:txBody>
      </p:sp>
      <p:sp>
        <p:nvSpPr>
          <p:cNvPr id="1565444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987335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688706506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71256372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97344242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05033385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80449776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638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18.09.2026</a:t>
            </a:fld>
            <a:endParaRPr lang="ru-RU"/>
          </a:p>
        </p:txBody>
      </p:sp>
      <p:sp>
        <p:nvSpPr>
          <p:cNvPr id="50275569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29408551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3174694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703027372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3078764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952123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0812223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1299664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5600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18.09.2026</a:t>
            </a:fld>
            <a:endParaRPr lang="ru-RU"/>
          </a:p>
        </p:txBody>
      </p:sp>
      <p:sp>
        <p:nvSpPr>
          <p:cNvPr id="161969147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695514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44974868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330031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6630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4085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737572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2490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672600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64602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18.09.2026</a:t>
            </a:fld>
            <a:endParaRPr lang="ru-RU"/>
          </a:p>
        </p:txBody>
      </p:sp>
      <p:sp>
        <p:nvSpPr>
          <p:cNvPr id="81377686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6355104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7133660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7562738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5400214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56310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6852734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5874651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575599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208888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88458935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7161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18.09.2026</a:t>
            </a:fld>
            <a:endParaRPr lang="ru-RU"/>
          </a:p>
        </p:txBody>
      </p:sp>
      <p:sp>
        <p:nvSpPr>
          <p:cNvPr id="25115632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4662954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0248127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9857875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23805524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352568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0756705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6318926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5282000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9499405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4630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86516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18.09.2026</a:t>
            </a:fld>
            <a:endParaRPr lang="ru-RU"/>
          </a:p>
        </p:txBody>
      </p:sp>
      <p:sp>
        <p:nvSpPr>
          <p:cNvPr id="7631659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205621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87267387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4895721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050265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9718742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0720677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38441431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5251180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584553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907909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41641074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44384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30670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18.09.2026</a:t>
            </a:fld>
            <a:endParaRPr lang="ru-RU"/>
          </a:p>
        </p:txBody>
      </p:sp>
      <p:sp>
        <p:nvSpPr>
          <p:cNvPr id="19554219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4651488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357587124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3205115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03273118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38154443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481788527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750357126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26072409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607253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131025141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18.09.2026</a:t>
            </a:fld>
            <a:endParaRPr lang="ru-RU"/>
          </a:p>
        </p:txBody>
      </p:sp>
      <p:sp>
        <p:nvSpPr>
          <p:cNvPr id="13562772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8410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7416539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85519227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98751105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43659916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73584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18.09.2026</a:t>
            </a:fld>
            <a:endParaRPr lang="ru-RU"/>
          </a:p>
        </p:txBody>
      </p:sp>
      <p:sp>
        <p:nvSpPr>
          <p:cNvPr id="133548263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2267710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78056922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1553788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442143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2750802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735030724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9844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4128466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196629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2479884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0223379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3828408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198411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489744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243350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280275615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2128071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8358551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750783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579447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95171051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18.09.2026</a:t>
            </a:fld>
            <a:endParaRPr lang="ru-RU"/>
          </a:p>
        </p:txBody>
      </p:sp>
      <p:sp>
        <p:nvSpPr>
          <p:cNvPr id="1599058022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7396754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948393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67992940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774414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9790193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47996398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18.09.2026</a:t>
            </a:fld>
            <a:endParaRPr lang="ru-RU"/>
          </a:p>
        </p:txBody>
      </p:sp>
      <p:sp>
        <p:nvSpPr>
          <p:cNvPr id="121736614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4774428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02937123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041874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90913832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3939887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1489599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0477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13191465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893328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18.09.2026</a:t>
            </a:fld>
            <a:endParaRPr lang="ru-RU"/>
          </a:p>
        </p:txBody>
      </p:sp>
      <p:sp>
        <p:nvSpPr>
          <p:cNvPr id="20922675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6051298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916072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/>
              <a:t>[НАЗВАНИЕ КОМАНДЫ]</a:t>
            </a:r>
            <a:endParaRPr lang="ru-RU" sz="4800"/>
          </a:p>
        </p:txBody>
      </p:sp>
      <p:sp>
        <p:nvSpPr>
          <p:cNvPr id="48869008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 lang="ru-RU"/>
              <a:t>Задача 5. Сервис планирования и распределения беспилотных авиационных работ</a:t>
            </a:r>
            <a:endParaRPr lang="ru-RU"/>
          </a:p>
        </p:txBody>
      </p:sp>
      <p:sp>
        <p:nvSpPr>
          <p:cNvPr id="1242083511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2098916073" name="Picture 2098916072" descr="Логотип GEOSC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614632"/>
            <a:ext cx="3108960" cy="5129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921817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686966749" name="Рисунок 1" descr="Интерфейс сервиса: фронт Парето, график вылетов и маршруты четырёх бортов на карте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31" r="31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75914866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668004623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Geoscan Planner, Mission Planner и QGroundControl планируют один борт. Мы распределяем работу по разнородному парку и даём выбрать компромисс «время работ — налёт».</a:t>
            </a:r>
            <a:endParaRPr/>
          </a:p>
        </p:txBody>
      </p:sp>
      <p:sp>
        <p:nvSpPr>
          <p:cNvPr id="1096675426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[ФИО, специальность]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Участников: [N]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Как образовалась команда: [заполнить]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Место работы / учёбы: [заполнить]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[заполнить]</a:t>
            </a:r>
          </a:p>
        </p:txBody>
      </p:sp>
      <p:sp>
        <p:nvSpPr>
          <p:cNvPr id="1244160651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135680501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>
                <a:solidFill>
                  <a:schemeClr val="accent5"/>
                </a:solidFill>
                <a:latin typeface="Montserrat"/>
              </a:rPr>
              <a:t>[НАЗВАНИЕ КОМАНДЫ]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634387374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31289625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70285971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82530481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481293215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Веб-сервис делит область съёмки между бортами парка Геоскан и строит каждому полётное задание: галсы, развороты, вылеты по заряду, обход запретных зон, ветер и рельеф. Экспорт — KML и GeoJSON.</a:t>
            </a:r>
            <a:endParaRPr/>
          </a:p>
        </p:txBody>
      </p:sp>
      <p:sp>
        <p:nvSpPr>
          <p:cNvPr id="805103687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1200">
                <a:solidFill>
                  <a:schemeClr val="accent5"/>
                </a:solidFill>
              </a:rPr>
              <a:t>8</a:t>
            </a:r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615353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61455521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1058685589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63811239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16710643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1054469056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1251960252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4876517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2116286745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1314593988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05529467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342575697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213781207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7366316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79490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9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260699621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486636947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957925855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15829322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212903737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022219245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СОСТАВ КОМАНДЫ</a:t>
            </a:r>
            <a:endParaRPr lang="ru-RU">
              <a:latin typeface="Montserrat"/>
            </a:endParaRPr>
          </a:p>
        </p:txBody>
      </p:sp>
      <p:sp>
        <p:nvSpPr>
          <p:cNvPr id="972760199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1270630445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59416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93210227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47762359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КАК МЫ РАБОТАЛИ</a:t>
            </a:r>
            <a:endParaRPr lang="ru-RU">
              <a:latin typeface="Montserrat"/>
            </a:endParaRPr>
          </a:p>
        </p:txBody>
      </p:sp>
      <p:sp>
        <p:nvSpPr>
          <p:cNvPr id="1906406580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[Как собрались, участвовали ли вместе в хакатонах — заполнить]</a:t>
            </a:r>
            <a:endParaRPr/>
          </a:p>
        </p:txBody>
      </p:sp>
      <p:sp>
        <p:nvSpPr>
          <p:cNvPr id="1671155865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175495209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Самолёту негде развернуться у запретной зоны — оставили запас на петлю и отдали эти полосы мультироторам. На 110 км² коптеры не долетали до своих полос — добавили разбиение с учётом дальности. Бенчмарк показал проигрыш равному делению — добавили мультистарт.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316898902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582960992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 борт давно умеют планировать Geoscan Planner и Mission Planner. Распределять работу по разнородному парку с учётом заряда и ветра — нет. Это настоящая задача оптимизации.</a:t>
            </a:r>
            <a:endParaRPr/>
          </a:p>
        </p:txBody>
      </p:sp>
      <p:sp>
        <p:nvSpPr>
          <p:cNvPr id="2026061691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46579141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6290821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80331046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39372331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232035627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518437582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8022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84129133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8761099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168838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11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97229410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Ядро на Python рассчитывает параметры съёмки по ТТХ бортов, строит галсы с учётом ветра, развороты по Дубинсу, обходит запретные зоны и высотные препятствия, режет маршрут на вылеты по заряду и делит область между бортами.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Читает данные заказчика: зоны ограничений с диапазоном высот и временем действия, высотные препятствия, задание на съёмку. Два критерия и фронт Парето, рельеф Copernicus DEM, советник по срокам. Веб-интерфейс на React + Leaflet, один Docker-контейнер, ключи не нужны.</a:t>
            </a:r>
          </a:p>
        </p:txBody>
      </p:sp>
      <p:sp>
        <p:nvSpPr>
          <p:cNvPr id="39508272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Операторы парков БВС в геодезии, мониторинге инфраструктуры, агро и геофизике: вместо ручной нарезки области на несколько бортов — готовые задания за секунды.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Быстрее получить данные: на случайном наборе из 30 сценариев план в 1,33 раза быстрее ручного деления оператором и выигрывает в 93 % сравнимых случаев.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Отвечает на вопросы заказчика: уложимся ли в срок, сколько бортов для этого нужно и сколько ресурса до ТО израсходует каждый борт.</a:t>
            </a:r>
          </a:p>
        </p:txBody>
      </p:sp>
      <p:sp>
        <p:nvSpPr>
          <p:cNvPr id="204615649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60168285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</a:t>
            </a:r>
            <a:endParaRPr/>
          </a:p>
        </p:txBody>
      </p:sp>
      <p:sp>
        <p:nvSpPr>
          <p:cNvPr id="17788557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Для кого и зачем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92772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8901403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Запуск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docker compose up --build → http://127.0.0.1:8000</a:t>
            </a:r>
          </a:p>
          <a:p>
            <a:pPr marL="0" indent="0">
              <a:spcBef>
                <a:spcPts val="10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Код и документация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github.com/nchekotko/geoscan-fleet-planner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README, docs/: архитектура, алгоритм, API, руководство, ограничения, бенчмарк</a:t>
            </a:r>
          </a:p>
          <a:p>
            <a:pPr marL="0" indent="0">
              <a:spcBef>
                <a:spcPts val="10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Контакты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[капитан, Telegram]</a:t>
            </a:r>
          </a:p>
        </p:txBody>
      </p:sp>
      <p:sp>
        <p:nvSpPr>
          <p:cNvPr id="63378190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19</a:t>
            </a:r>
            <a:endParaRPr lang="ru-RU"/>
          </a:p>
        </p:txBody>
      </p:sp>
      <p:sp>
        <p:nvSpPr>
          <p:cNvPr id="2141868403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СПАСИБО!</a:t>
            </a:r>
            <a:endParaRPr lang="ru-RU" sz="20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6171791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6878209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4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94508892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ДАННЫЕ ЗАКАЗЧИКА</a:t>
            </a:r>
            <a:endParaRPr lang="ru-RU" sz="3600">
              <a:solidFill>
                <a:schemeClr val="bg1"/>
              </a:solidFill>
            </a:endParaRPr>
          </a:p>
        </p:txBody>
      </p:sp>
      <p:pic>
        <p:nvPicPr>
          <p:cNvPr id="1066171792" name="Picture 1066171791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754" y="1556279"/>
            <a:ext cx="7049886" cy="3745441"/>
          </a:xfrm>
          <a:prstGeom prst="rect">
            <a:avLst/>
          </a:prstGeom>
        </p:spPr>
      </p:pic>
      <p:sp>
        <p:nvSpPr>
          <p:cNvPr id="1066171793" name="TextBox 1066171792"/>
          <p:cNvSpPr txBox="1"/>
          <p:nvPr/>
        </p:nvSpPr>
        <p:spPr>
          <a:xfrm>
            <a:off x="640080" y="52578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b="1" sz="1600">
                <a:solidFill>
                  <a:srgbClr val="2A1B4A"/>
                </a:solidFill>
              </a:rPr>
              <a:t>341 зона ограничений, 5162 препятствия, 696 участков задания — из файлов заказчика</a:t>
            </a:r>
          </a:p>
          <a:p>
            <a:pPr marL="0" indent="0">
              <a:buNone/>
            </a:pPr>
            <a:r>
              <a:rPr sz="1300">
                <a:solidFill>
                  <a:srgbClr val="2A1B4A"/>
                </a:solidFill>
              </a:rPr>
              <a:t>Высоты зон записаны текстом («От земли до 500 м (1700 фут) AMSL», «От FL280 до FL400»), времени действия нет: мы предложили формат и разбираем эти записи. Зона режет область, только если её высоты пересекаются с высотами работ; препятствие выше высоты съёмки сервис облетает.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230298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680785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3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680390965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ДЕМО: 4 БОРТА, 6,3 КМ²</a:t>
            </a:r>
            <a:endParaRPr lang="ru-RU" sz="2000">
              <a:solidFill>
                <a:schemeClr val="accent5"/>
              </a:solidFill>
            </a:endParaRPr>
          </a:p>
        </p:txBody>
      </p:sp>
      <p:pic>
        <p:nvPicPr>
          <p:cNvPr id="776835691" name="Рисунок 3" descr="Маршруты четырёх бортов вокруг запретной зоны в демо-сценарии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42" r="42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98537306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Сценарий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Геоскан 201, два Gemini и 801, две ВПП, запретная зона в центре, ветер 5 м/с, RGB 3 см/пикс.</a:t>
            </a:r>
          </a:p>
          <a:p>
            <a:pPr marL="0" indent="0">
              <a:spcBef>
                <a:spcPts val="8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Что сделал сервис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 снимает основную часть длинными галсами с петлями на разворотах. Кольцо вокруг запретной зоны, где самолёту не развернуться, забрал Геоскан 801.</a:t>
            </a:r>
          </a:p>
          <a:p>
            <a:pPr marL="0" indent="0">
              <a:spcBef>
                <a:spcPts val="8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Итог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Все работы за 58 мин, покрытие 100 %, ни одного пересечения запретной зоны. Один лучший борт потратил бы 83 мин и оставил бы неснятыми 4 % у запретной зоны.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773812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ДОПУЩЕНИЯ И ОГРАНИЧЕНИЯ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20624811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Часть ТТХ задана командой (АКБ 801, крейсерская скорость 201, смена АКБ) — помечены в датасете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0050484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Энергия — по паспортной продолжительности с резервом и поправкой на ветер, без телеметрии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7812002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Ветер постоянный по области; развороты самолёта без учёта сноса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25509603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Время действия зон в данных заказчика отсутствует: формат готов, окно задаёт пользователь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50800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Оптимизация эвристическая: хороший план за секунды, глобальный оптимум не гарантирован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3827626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17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02163193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45437143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0989343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1262306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1742554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719291" name="Скругленный прямоугольник 9"/>
          <p:cNvSpPr/>
          <p:nvPr/>
        </p:nvSpPr>
        <p:spPr bwMode="auto">
          <a:xfrm>
            <a:off x="346075" y="324562"/>
            <a:ext cx="213969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3057752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6679565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6061303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1316948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012998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5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07834322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Галсы и ветер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1173579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Направление галсов перебираем по рёбрам полигона и оцениваем по времени с учётом ветра. Дыры и вогнутости — клеточная декомпозиция boustrophedon.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68319285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Развороты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92444851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 — кратчайшие пути Дубинса, R = V²/(g·tg φ): при узком шаге получается петля, как в Geoscan Planner. Коптер — остановка и разгон.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99537320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Зоны, высоты, заряд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1559462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Зона мешает, только если её полоса высот пересекает высоты работ. Перелёты — по графу видимости вокруг зон и препятствий, маршрут режется на вылеты по заряду.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65283250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Парк и критерии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8671624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Доли области по производительности и дальности, балансировка по факту, локальный поиск. Фронт Парето: взвешенная сумма и ε-ограничения.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892933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АЛГОРИТМ</a:t>
            </a:r>
            <a:endParaRPr lang="ru-RU"/>
          </a:p>
        </p:txBody>
      </p:sp>
      <p:sp>
        <p:nvSpPr>
          <p:cNvPr id="95998924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91401211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2714254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7171830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870481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2719362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4666128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3727323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18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1894545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Точнее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6663422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Калибровка энергомодели по телеметрии, прогноз ветра по высотам, трохоидальные развороты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6157632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Безопаснее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69884715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Автоматическое разведение бортов по высоте и времени, загрузка зон из официальных источников по расписанию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06959530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Ближе к полёту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10999338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Экспорт в формат Geoscan Planner и MAVLink, перепланирование по ходу работ, очередь ТО парка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1107420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ПЛАНЫ РАЗВИТИЯ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76952077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2513912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66692838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2314806" name="Скругленный прямоугольник 22"/>
          <p:cNvSpPr/>
          <p:nvPr/>
        </p:nvSpPr>
        <p:spPr bwMode="auto">
          <a:xfrm>
            <a:off x="346075" y="324562"/>
            <a:ext cx="4105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271690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16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59348601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Ядро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8854950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Python 3.12: shapely, pyproj, networkx, numpy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0492310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API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5314496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FastAPI, OpenAPI-документация, pydantic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1247996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Интерфейс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157095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React, TypeScript, Leaflet, OpenStreetMap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84031197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03603882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ТТХ в YAML, зоны и препятствия заказчика, рельеф Copernicus DEM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941418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Экспорт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80237066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GeoJSON (RFC 7946), KML 2.2, ZIP по плану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91600374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Качество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3358808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132 автотеста, честный бенчмарк, Docker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890977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АРХИТЕКТУРА И СТЕК</a:t>
            </a:r>
            <a:endParaRPr lang="ru-RU"/>
          </a:p>
        </p:txBody>
      </p:sp>
      <p:sp>
        <p:nvSpPr>
          <p:cNvPr id="32685812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58003807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5750862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1982721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452809513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78426587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506719" name="Скругленный прямоугольник 1"/>
          <p:cNvSpPr/>
          <p:nvPr/>
        </p:nvSpPr>
        <p:spPr bwMode="auto">
          <a:xfrm>
            <a:off x="346075" y="324562"/>
            <a:ext cx="351586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84664750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13</a:t>
            </a:r>
            <a:endParaRPr lang="ru-RU">
              <a:solidFill>
                <a:schemeClr val="accent5"/>
              </a:solidFill>
            </a:endParaRPr>
          </a:p>
        </p:txBody>
      </p:sp>
      <p:pic>
        <p:nvPicPr>
          <p:cNvPr id="1946121707" name="Рисунок 2" descr="Магнитная съёмка двумя Геоскан 401 с секущими маршрутами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62" b="62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1512573901" name="Рисунок 3" descr="LiDAR-съёмка двумя Геоскан 401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71" r="71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2109437233" name="Рисунок 4" descr="Разбиение 110 км² между самолётами и мультироторами с учётом дальности"/>
          <p:cNvPicPr>
            <a:picLocks noGrp="1" noChangeAspect="1"/>
          </p:cNvPicPr>
          <p:nvPr>
            <p:ph type="pic" sz="quarter" idx="12"/>
          </p:nvPr>
        </p:nvPicPr>
        <p:blipFill>
          <a:blip r:embed="rId6"/>
          <a:srcRect t="76" b="76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1100381646" name="Текст 5"/>
          <p:cNvSpPr>
            <a:spLocks noGrp="1"/>
          </p:cNvSpPr>
          <p:nvPr>
            <p:ph type="body" sz="quarter" idx="14"/>
          </p:nvPr>
        </p:nvSpPr>
        <p:spPr bwMode="auto"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RGB, мультиспектр, ИК — по GSD и перекрытиям; LiDAR — по плотности точек; геофизика — малая высота, огибание рельефа и секущие маршруты.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Для LiDAR и геофизики в датасет добавлен Геоскан 401 (ТТХ из его руководства): в приложении к ТЗ таких нагрузок нет.</a:t>
            </a:r>
          </a:p>
        </p:txBody>
      </p:sp>
      <p:sp>
        <p:nvSpPr>
          <p:cNvPr id="32275407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7315200" cy="376138"/>
          </a:xfrm>
        </p:spPr>
        <p:txBody>
          <a:bodyPr/>
          <a:lstStyle/>
          <a:p>
            <a:pPr>
              <a:defRPr/>
            </a:pPr>
            <a:r>
              <a:rPr lang="ru-RU"/>
              <a:t>ВСЕ ТИПЫ СЪЁМКИ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404609" name="Скругленный прямоугольник 1"/>
          <p:cNvSpPr/>
          <p:nvPr/>
        </p:nvSpPr>
        <p:spPr bwMode="auto">
          <a:xfrm>
            <a:off x="346075" y="324562"/>
            <a:ext cx="29260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326739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05028026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682058439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64458047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56646513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138244014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2888461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defRPr/>
            </a:pPr>
            <a:r>
              <a:rPr lang="ru-RU" sz="2400" b="1">
                <a:solidFill>
                  <a:schemeClr val="tx1"/>
                </a:solidFill>
              </a:rPr>
              <a:t>Диспетчер парка, а не планировщик одного борта</a:t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spcBef>
                <a:spcPts val="1400"/>
              </a:spcBef>
              <a:buNone/>
              <a:defRPr/>
            </a:pPr>
            <a:r>
              <a:rPr lang="ru-RU" sz="1800" b="1">
                <a:solidFill>
                  <a:schemeClr val="tx1"/>
                </a:solidFill>
              </a:rPr>
              <a:t>Существующие программы строят задание одному аппарату. Сервис решает, кто что снимает, с какой базы и за сколько вылетов, и показывает цену выбора между скоростью и налётом.</a:t>
            </a:r>
          </a:p>
        </p:txBody>
      </p:sp>
      <p:sp>
        <p:nvSpPr>
          <p:cNvPr id="792620368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Физика полёта: ветер, развороты самолёта, заряд, смена АКБ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0448067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Данные заказчика читаются как есть: высоты зон и препятствия из KML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99652688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Зона мешает, только если её высоты пересекаются с высотами работ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1792085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Советник: сколько бортов нужно к сроку и сколько времени займут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1314687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Ресурс до ТО и потолок 150 м — по нормативам, а не «на глаз»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84119058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15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096724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УНИКАЛЬНОСТЬ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985566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167925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77037658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802965" name="Скругленный прямоугольник 1"/>
          <p:cNvSpPr/>
          <p:nvPr/>
        </p:nvSpPr>
        <p:spPr bwMode="auto">
          <a:xfrm>
            <a:off x="346075" y="324562"/>
            <a:ext cx="25328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2465394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6</a:t>
            </a:r>
            <a:endParaRPr lang="ru-RU"/>
          </a:p>
        </p:txBody>
      </p:sp>
      <p:sp>
        <p:nvSpPr>
          <p:cNvPr id="978850912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1,33×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882305830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выигрыш по времени работ против ручного деления оператором — медиана 30 случайных сценариев, победа в 93 % случаев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95788791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1,81×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295292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выигрыш по времени работ против одного лучшего борта (медиана)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0159186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30 из 30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950394813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случайных сценариев сняты полностью (≥ 99,5 %); 0 пересечений запретных зон, 132 автотеста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2419065" name="Диаграмма 9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010858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2763648" cy="376138"/>
          </a:xfrm>
        </p:spPr>
        <p:txBody>
          <a:bodyPr/>
          <a:lstStyle/>
          <a:p>
            <a:pPr>
              <a:defRPr/>
            </a:pPr>
            <a:r>
              <a:rPr lang="ru-RU"/>
              <a:t>РЕЗУЛЬТАТЫ</a:t>
            </a:r>
            <a:endParaRPr lang="ru-RU"/>
          </a:p>
        </p:txBody>
      </p:sp>
      <p:sp>
        <p:nvSpPr>
          <p:cNvPr id="1950394814" name="TextBox 1950394813"/>
          <p:cNvSpPr txBox="1"/>
          <p:nvPr/>
        </p:nvSpPr>
        <p:spPr>
          <a:xfrm>
            <a:off x="530352" y="1143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Во сколько раз дольше идут работы при базовых подходах (наш план = 1)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478375" name="Скругленный прямоугольник 1"/>
          <p:cNvSpPr/>
          <p:nvPr/>
        </p:nvSpPr>
        <p:spPr bwMode="auto">
          <a:xfrm>
            <a:off x="346075" y="324562"/>
            <a:ext cx="37124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9364196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84306364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0,5–19 с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6065376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расчёт плана для областей от 1 до 400 км² и парка до 16 бортов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5300391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400 км²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867150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16 бортов — план за 13 с; 110 км², 5 бортов — за 5 с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26115762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Дальность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46240602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крупные области делятся с учётом радиуса действия каждого борта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0928423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Docker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98214148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один контейнер, без внешних ключей; рельеф вшит при сборке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179244916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11594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МАСШТАБИРУЕМОСТЬ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291432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1673137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62541317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62860665" name="Скругленный прямоугольник 1"/>
          <p:cNvSpPr/>
          <p:nvPr/>
        </p:nvSpPr>
        <p:spPr bwMode="auto">
          <a:xfrm>
            <a:off x="346075" y="324562"/>
            <a:ext cx="4105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5574251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49624372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79047827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98286871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Парк из разных бортов: самолёт на 3 часа и коптеры на 40 минут. Делить область между ними вручную долго, результат далёк от оптимума, легко забыть про ветер и заряд.</a:t>
            </a:r>
          </a:p>
        </p:txBody>
      </p:sp>
      <p:sp>
        <p:nvSpPr>
          <p:cNvPr id="236283797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Решение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Сервис сам делит область по производительности и дальности бортов, строит галсы, развороты и вылеты, обходит запретные зоны и проверяет аварийный уход на площадки.</a:t>
            </a:r>
          </a:p>
        </p:txBody>
      </p:sp>
      <p:sp>
        <p:nvSpPr>
          <p:cNvPr id="134405288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Результат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Индивидуальные задания в KML и GeoJSON, выбор критерия «время работ» или «налёт», набор компромиссов между ними и ответ на вопрос «сколько бортов нужно к сроку». Расчёт — секунды.</a:t>
            </a:r>
          </a:p>
        </p:txBody>
      </p:sp>
      <p:cxnSp>
        <p:nvCxnSpPr>
          <p:cNvPr id="1312320421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927020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fill="norm" stroke="1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fill="norm" stroke="1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fill="norm" stroke="1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fill="norm" stroke="1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fill="norm" stroke="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fill="norm" stroke="1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fill="norm" stroke="1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fill="norm" stroke="1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fill="norm" stroke="1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65256499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fill="norm" stroke="1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fill="norm" stroke="1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fill="norm" stroke="1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fill="norm" stroke="1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fill="norm" stroke="1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fill="norm" stroke="1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fill="norm" stroke="1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969182811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fill="norm" stroke="1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fill="norm" stroke="1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fill="norm" stroke="1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fill="norm" stroke="1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fill="norm" stroke="1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fill="norm" stroke="1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fill="norm" stroke="1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fill="norm" stroke="1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51786899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7432156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ПРОБЛЕМА И РЕШЕНИЕ</a:t>
            </a:r>
            <a:endParaRPr lang="ru-RU"/>
          </a:p>
        </p:txBody>
      </p:sp>
      <p:cxnSp>
        <p:nvCxnSpPr>
          <p:cNvPr id="114662454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281501" name="Скругленный прямоугольник 11"/>
          <p:cNvSpPr/>
          <p:nvPr/>
        </p:nvSpPr>
        <p:spPr bwMode="auto">
          <a:xfrm>
            <a:off x="346075" y="324562"/>
            <a:ext cx="430225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9427226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2822217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Исходные данные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39784553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Область, зоны ограничений и высотные препятствия из данных заказчика, ВПП, парк, тип съёмки, ветер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29232669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Параметры съёмки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65276705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Высота, полоса, шаг галсов и скорость из GSD, плотности LiDAR или шага геофизики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141325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Распределение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68271957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Доли области по производительности и дальности бортов, балансировка по времени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56451346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Маршруты и вылеты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69804582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Галсы по ветру, развороты Дубинса, обход NFZ, нарезка по заряду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58107036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Проверка и экспорт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843382000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Уход на площадки, радиоканал, покрытие, ресурс до ТО; KML и GeoJSON на каждый борт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6478257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302124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0401311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323138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0783400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90814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9612504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769075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5076173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601820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298088240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1483075521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2134845279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1009008750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113676061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КАК РАБОТАЕТ СЕРВИС</a:t>
            </a:r>
            <a:endParaRPr lang="ru-RU"/>
          </a:p>
        </p:txBody>
      </p:sp>
      <p:sp>
        <p:nvSpPr>
          <p:cNvPr id="1503954071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800681483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309421021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677020523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332803047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199311" name="Скругленный прямоугольник 1"/>
          <p:cNvSpPr/>
          <p:nvPr/>
        </p:nvSpPr>
        <p:spPr bwMode="auto">
          <a:xfrm>
            <a:off x="346075" y="324562"/>
            <a:ext cx="233629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880837635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www.</a:t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lider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.com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1025393122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www.</a:t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lider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.com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80279196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23157208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Фронт Парето и график вылетов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Каждая точка — недоминируемый план: левее быстрее, ниже меньше налёт. Щелчок открывает план на карте.</a:t>
            </a:r>
          </a:p>
        </p:txBody>
      </p:sp>
      <p:sp>
        <p:nvSpPr>
          <p:cNvPr id="1172478958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110 км², 5 бортов, 2 ВПП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Самолёты берут дальние участки, коптеры работают у своих баз в пределах радиуса действия.</a:t>
            </a:r>
          </a:p>
        </p:txBody>
      </p:sp>
      <p:pic>
        <p:nvPicPr>
          <p:cNvPr id="299969931" name="Рисунок 4" descr="Интерфейс: фронт Парето, показатели плана и маршруты на карте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15" b="115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082618591" name="Рисунок 5" descr="Интерфейс: план для 110 км² с пятью бортами и двумя ВПП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t="115" b="115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94593010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ИНТЕРФЕЙС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2026-09-18T09:14:14Z</dcterms:modified>
</cp:coreProperties>
</file>