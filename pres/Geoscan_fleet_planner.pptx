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79" r:id="rId27"/>
    <p:sldId id="280" r:id="rId28"/>
    <p:sldId id="269" r:id="rId17"/>
    <p:sldId id="268" r:id="rId16"/>
    <p:sldId id="271" r:id="rId19"/>
    <p:sldId id="276" r:id="rId24"/>
    <p:sldId id="262" r:id="rId10"/>
    <p:sldId id="263" r:id="rId11"/>
    <p:sldId id="264" r:id="rId12"/>
    <p:sldId id="265" r:id="rId13"/>
    <p:sldId id="266" r:id="rId14"/>
    <p:sldId id="282" r:id="rId30"/>
    <p:sldId id="274" r:id="rId22"/>
    <p:sldId id="277" r:id="rId25"/>
    <p:sldId id="275" r:id="rId23"/>
    <p:sldId id="273" r:id="rId21"/>
    <p:sldId id="270" r:id="rId18"/>
    <p:sldId id="272" r:id="rId20"/>
    <p:sldId id="267" r:id="rId15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30" Type="http://schemas.openxmlformats.org/officeDocument/2006/relationships/slide" Target="slides/slide27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Relationship Id="rId2" Type="http://schemas.microsoft.com/office/2011/relationships/chartStyle" Target="style1.xml"/><Relationship Id="rId3" Type="http://schemas.microsoft.com/office/2011/relationships/chartColorStyle" Target="colors1.xml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Relationship Id="rId2" Type="http://schemas.microsoft.com/office/2011/relationships/chartStyle" Target="style2.xml"/><Relationship Id="rId3" Type="http://schemas.microsoft.com/office/2011/relationships/chartColorStyle" Target="colors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mc="http://schemas.openxmlformats.org/markup-compatibility/2006" xmlns:c15="http://schemas.microsoft.com/office/drawing/2012/chart" xmlns:c14="http://schemas.microsoft.com/office/drawing/2007/8/2/chart" xmlns:c16r2="http://schemas.microsoft.com/office/drawing/2015/06/chart">
  <c:date1904 val="0"/>
  <c:lang val="ru-RU"/>
  <c:roundedCorners val="0"/>
  <mc:AlternateContent>
    <mc:Choice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1688"/>
          <c:y val="0.126935"/>
          <c:w val="0.926086"/>
          <c:h val="0.66747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Один лучший борт</c:v>
                </c:pt>
              </c:strCache>
            </c:strRef>
          </c:tx>
          <c:spPr bwMode="auto">
            <a:prstGeom prst="rect">
              <a:avLst/>
            </a:prstGeom>
            <a:solidFill>
              <a:schemeClr val="accent1"/>
            </a:solidFill>
            <a:ln w="63500"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6 км², 4 борта</c:v>
                </c:pt>
                <c:pt idx="1">
                  <c:v>Геофизика</c:v>
                </c:pt>
                <c:pt idx="2">
                  <c:v>LiDAR</c:v>
                </c:pt>
                <c:pt idx="3">
                  <c:v>Ветер 11 м/с</c:v>
                </c:pt>
                <c:pt idx="4">
                  <c:v>110 км²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1.43</c:v>
                </c:pt>
                <c:pt idx="1">
                  <c:v>2.08</c:v>
                </c:pt>
                <c:pt idx="2">
                  <c:v>1.91</c:v>
                </c:pt>
                <c:pt idx="3">
                  <c:v>1.07</c:v>
                </c:pt>
                <c:pt idx="4">
                  <c:v>2.07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Оператор: доли ∝ производительности</c:v>
                </c:pt>
              </c:strCache>
            </c:strRef>
          </c:tx>
          <c:spPr bwMode="auto">
            <a:prstGeom prst="rect">
              <a:avLst/>
            </a:prstGeom>
            <a:solidFill>
              <a:schemeClr val="accent2"/>
            </a:solidFill>
            <a:ln w="63500"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6 км², 4 борта</c:v>
                </c:pt>
                <c:pt idx="1">
                  <c:v>Геофизика</c:v>
                </c:pt>
                <c:pt idx="2">
                  <c:v>LiDAR</c:v>
                </c:pt>
                <c:pt idx="3">
                  <c:v>Ветер 11 м/с</c:v>
                </c:pt>
                <c:pt idx="4">
                  <c:v>110 км²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1.59</c:v>
                </c:pt>
                <c:pt idx="1">
                  <c:v>1.05</c:v>
                </c:pt>
                <c:pt idx="2">
                  <c:v>0.99</c:v>
                </c:pt>
                <c:pt idx="3">
                  <c:v>1.05</c:v>
                </c:pt>
                <c:pt idx="4">
                  <c:v>1.02</c:v>
                </c:pt>
              </c:numCache>
            </c:numRef>
          </c:val>
        </c:ser>
        <c:dLbls>
          <c:showBubbleSize val="0"/>
          <c:showCatName val="0"/>
          <c:showLeaderLines val="0"/>
          <c:showLegendKey val="0"/>
          <c:showPercent val="0"/>
          <c:showSerName val="0"/>
          <c:showVal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 bwMode="auto">
          <a:prstGeom prst="rect">
            <a:avLst/>
          </a:prstGeom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>
                <a:solidFill>
                  <a:schemeClr val="bg1"/>
                </a:solidFill>
                <a:latin typeface="Montserrat"/>
                <a:ea typeface="Arial"/>
                <a:cs typeface="Arial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l"/>
        <c:majorGridlines>
          <c:spPr bwMode="auto">
            <a:prstGeom prst="rect">
              <a:avLst/>
            </a:prstGeom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 bwMode="auto">
          <a:prstGeom prst="rect">
            <a:avLst/>
          </a:prstGeom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>
                <a:solidFill>
                  <a:schemeClr val="bg1"/>
                </a:solidFill>
                <a:latin typeface="Montserrat"/>
                <a:ea typeface="Arial"/>
                <a:cs typeface="Arial"/>
              </a:defRPr>
            </a:pPr>
            <a:endParaRPr lang="ru-RU"/>
          </a:p>
        </c:txPr>
        <c:crossAx val="1688540351"/>
        <c:crosses val="autoZero"/>
        <c:crossBetween val="between"/>
        <c:majorUnit val="1.000000"/>
      </c:valAx>
      <c:spPr bwMode="auto">
        <a:prstGeom prst="rect">
          <a:avLst/>
        </a:prstGeom>
        <a:noFill/>
        <a:ln w="25400">
          <a:noFill/>
        </a:ln>
        <a:effectLst/>
      </c:spPr>
    </c:plotArea>
    <c:legend>
      <c:legendPos val="b"/>
      <c:layout>
        <c:manualLayout>
          <c:xMode val="edge"/>
          <c:yMode val="edge"/>
          <c:x val="0.030341"/>
          <c:y val="0.938201"/>
          <c:w val="0.947401"/>
          <c:h val="0.061799"/>
        </c:manualLayout>
      </c:layout>
      <c:overlay val="0"/>
      <c:spPr bwMode="auto">
        <a:prstGeom prst="rect">
          <a:avLst/>
        </a:prstGeom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 bwMode="auto">
    <a:xfrm rot="0">
      <a:off x="346075" y="1424510"/>
      <a:ext cx="5749925" cy="4401748"/>
    </a:xfrm>
    <a:prstGeom prst="rect">
      <a:avLst/>
    </a:prstGeom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1">
    <c:autoUpdate val="1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mc="http://schemas.openxmlformats.org/markup-compatibility/2006" xmlns:c15="http://schemas.microsoft.com/office/drawing/2012/chart" xmlns:c14="http://schemas.microsoft.com/office/drawing/2007/8/2/chart" xmlns:c16r2="http://schemas.microsoft.com/office/drawing/2015/06/chart">
  <c:date1904 val="0"/>
  <c:lang val="ru-RU"/>
  <c:roundedCorners val="0"/>
  <mc:AlternateContent>
    <mc:Choice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3533"/>
          <c:y val="0.126935"/>
          <c:w val="0.864242"/>
          <c:h val="0.667471"/>
        </c:manualLayout>
      </c:layout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Время расчёта, с (8 бортов)</c:v>
                </c:pt>
              </c:strCache>
            </c:strRef>
          </c:tx>
          <c:spPr bwMode="auto">
            <a:prstGeom prst="rect">
              <a:avLst/>
            </a:prstGeom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 bwMode="auto">
              <a:prstGeom prst="rect">
                <a:avLst/>
              </a:prstGeom>
              <a:solidFill>
                <a:schemeClr val="accent2"/>
              </a:solidFill>
              <a:ln w="63500">
                <a:noFill/>
              </a:ln>
              <a:effectLst/>
            </c:spPr>
          </c:dPt>
          <c:dPt>
            <c:idx val="1"/>
            <c:invertIfNegative val="0"/>
            <c:bubble3D val="0"/>
            <c:spPr bwMode="auto">
              <a:prstGeom prst="rect">
                <a:avLst/>
              </a:prstGeom>
              <a:solidFill>
                <a:schemeClr val="accent4"/>
              </a:solidFill>
              <a:ln w="63500">
                <a:noFill/>
              </a:ln>
              <a:effectLst/>
            </c:spPr>
          </c:dPt>
          <c:dPt>
            <c:idx val="2"/>
            <c:invertIfNegative val="0"/>
            <c:bubble3D val="0"/>
            <c:spPr bwMode="auto">
              <a:prstGeom prst="rect">
                <a:avLst/>
              </a:prstGeom>
              <a:solidFill>
                <a:schemeClr val="accent5"/>
              </a:solidFill>
              <a:ln w="63500">
                <a:noFill/>
              </a:ln>
              <a:effectLst/>
            </c:spPr>
          </c:dPt>
          <c:dPt>
            <c:idx val="3"/>
            <c:invertIfNegative val="0"/>
            <c:bubble3D val="0"/>
            <c:spPr bwMode="auto">
              <a:prstGeom prst="rect">
                <a:avLst/>
              </a:prstGeom>
              <a:solidFill>
                <a:schemeClr val="accent1"/>
              </a:solidFill>
              <a:ln w="63500">
                <a:noFill/>
              </a:ln>
              <a:effectLst/>
            </c:spPr>
          </c:dPt>
          <c:cat>
            <c:strRef>
              <c:f>Sheet1!$A$2:$A$6</c:f>
              <c:strCache>
                <c:ptCount val="5"/>
                <c:pt idx="0">
                  <c:v>400 км²</c:v>
                </c:pt>
                <c:pt idx="1">
                  <c:v>144 км²</c:v>
                </c:pt>
                <c:pt idx="2">
                  <c:v>64 км²</c:v>
                </c:pt>
                <c:pt idx="3">
                  <c:v>16 км²</c:v>
                </c:pt>
                <c:pt idx="4">
                  <c:v>4 км²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16.6</c:v>
                </c:pt>
                <c:pt idx="1">
                  <c:v>2.0</c:v>
                </c:pt>
                <c:pt idx="2">
                  <c:v>1.7</c:v>
                </c:pt>
                <c:pt idx="3">
                  <c:v>7.3</c:v>
                </c:pt>
                <c:pt idx="4">
                  <c:v>5.0</c:v>
                </c:pt>
              </c:numCache>
            </c:numRef>
          </c:val>
        </c:ser>
        <c:dLbls>
          <c:showBubbleSize val="0"/>
          <c:showCatName val="0"/>
          <c:showLeaderLines val="0"/>
          <c:showLegendKey val="0"/>
          <c:showPercent val="0"/>
          <c:showSerName val="0"/>
          <c:showVal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 bwMode="auto">
          <a:prstGeom prst="rect">
            <a:avLst/>
          </a:prstGeom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>
                <a:solidFill>
                  <a:schemeClr val="tx1"/>
                </a:solidFill>
                <a:latin typeface="Montserrat"/>
                <a:ea typeface="Arial"/>
                <a:cs typeface="Arial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b"/>
        <c:majorGridlines>
          <c:spPr bwMode="auto">
            <a:prstGeom prst="rect">
              <a:avLst/>
            </a:prstGeom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 bwMode="auto">
          <a:prstGeom prst="rect">
            <a:avLst/>
          </a:prstGeom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>
                <a:solidFill>
                  <a:schemeClr val="tx1"/>
                </a:solidFill>
                <a:latin typeface="Montserrat"/>
                <a:ea typeface="Arial"/>
                <a:cs typeface="Arial"/>
              </a:defRPr>
            </a:pPr>
            <a:endParaRPr lang="ru-RU"/>
          </a:p>
        </c:txPr>
        <c:crossAx val="1688540351"/>
        <c:crosses val="autoZero"/>
        <c:crossBetween val="between"/>
        <c:majorUnit val="1.000000"/>
      </c:valAx>
      <c:spPr bwMode="auto">
        <a:prstGeom prst="rect">
          <a:avLst/>
        </a:prstGeom>
        <a:noFill/>
        <a:ln>
          <a:noFill/>
        </a:ln>
        <a:effectLst/>
      </c:spPr>
    </c:plotArea>
    <c:plotVisOnly val="1"/>
    <c:dispBlanksAs val="gap"/>
    <c:showDLblsOverMax val="0"/>
  </c:chart>
  <c:spPr bwMode="auto">
    <a:xfrm rot="0">
      <a:off x="346075" y="1424510"/>
      <a:ext cx="5749925" cy="4401748"/>
    </a:xfrm>
    <a:prstGeom prst="rect">
      <a:avLst/>
    </a:prstGeom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1">
    <c:autoUpdate val="1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5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categoryAxis>
  <cs:chartArea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5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 bwMode="auto">
      <a:prstGeom prst="rect">
        <a:avLst/>
      </a:prstGeom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9525">
        <a:solidFill>
          <a:schemeClr val="phClr"/>
        </a:solidFill>
      </a:ln>
    </cs:spPr>
  </cs:dataPointMarker>
  <cs:dataPointWirefram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dataTable>
  <cs:down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seriesAxis>
  <cs:series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50" b="0" spc="0"/>
  </cs:title>
  <cs:trendlin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200"/>
  </cs:trendlineLabel>
  <cs:up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valueAxis>
  <cs:wall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wall>
  <cs:dataPointMarkerLayout symbol="circle" size="5"/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5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categoryAxis>
  <cs:chartArea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5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 bwMode="auto">
      <a:prstGeom prst="rect">
        <a:avLst/>
      </a:prstGeom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9525">
        <a:solidFill>
          <a:schemeClr val="phClr"/>
        </a:solidFill>
      </a:ln>
    </cs:spPr>
  </cs:dataPointMarker>
  <cs:dataPointWirefram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dataTable>
  <cs:down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seriesAxis>
  <cs:series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50" b="0" spc="0"/>
  </cs:title>
  <cs:trendlin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200"/>
  </cs:trendlineLabel>
  <cs:up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valueAxis>
  <cs:wall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wall>
  <cs:dataPointMarkerLayout symbol="circle" size="5"/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3101785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85097713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14.09.2026</a:t>
            </a:fld>
            <a:endParaRPr lang="ru-RU"/>
          </a:p>
        </p:txBody>
      </p:sp>
      <p:sp>
        <p:nvSpPr>
          <p:cNvPr id="2135623610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958448376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01856204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66260931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Представить команду и задачу: сервис, который распределяет авиационные работы между бортами парка Геоскан и строит каждому полётное задание.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E1B1709-5DF9-CE8B-0D80-8745F926D78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Суть и уникальность в двух фразах. Поля в квадратных скобках заполнить данными команды.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723F6AF-8853-C780-7376-4883F15C75A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2205491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54731758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Заполнить карточки участников; лишние карточки удалить вместе с рамкой и фото.</a:t>
            </a:r>
          </a:p>
        </p:txBody>
      </p:sp>
      <p:sp>
        <p:nvSpPr>
          <p:cNvPr id="239289117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3535572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0994709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Первый блок — история команды, заполнить. Сложности — реальные, из разработки.</a:t>
            </a:r>
          </a:p>
        </p:txBody>
      </p:sp>
      <p:sp>
        <p:nvSpPr>
          <p:cNvPr id="2110132453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Техническая и прикладная суть. Цифры — из docs/benchmark.md (30 случайных сценариев).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D26D26-150F-1601-6C86-E64DD6FC3C7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9295630-3AF7-5BF1-E34C-ACD190C2EB3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Данные из чата задачи (22–23.09). Формат — docs/data_formats.md, сценарий moscow_real.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619A5BB-B292-E329-E934-2CB71EB1F2E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2977507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19849954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Показать живое демо: сценарий demo_basic → «Рассчитать план» → «Сравнить варианты».</a:t>
            </a:r>
          </a:p>
        </p:txBody>
      </p:sp>
      <p:sp>
        <p:nvSpPr>
          <p:cNvPr id="1789881963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14</a:t>
            </a:fld>
            <a:endParaRPr lang="ru-RU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6A13F91-E62E-B99F-C54D-D2D8B7BE6DF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Источники: Choset 2000, Huang 2001, Coombes 2017, Dubins 1957, Lozano-Pérez 1979, Beasley 1983, Maza &amp; Ollero 2007, DARP 2017, Mavrotas 2009 — docs/algorithm.md.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9DC001-179D-2539-A791-0D4521E23FE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F1380DB-6083-FD50-4C3F-2BA69E6842F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4B3BBE7-F228-6DAE-D5FF-8C62F6E91F4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Сверху справа — магнитная съёмка (секущие маршруты пунктиром), ниже — LiDAR, слева — 110 км².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82747C7-A1D5-9EB8-332B-A2E71370666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E2B22DF-35AC-1BF6-F6A5-EE2C68E04B4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Диаграмма: во сколько раз дольше работы при базовых подходах, чем по нашему плану (=1). Все подходы считает одна модель полёта, отличается только распределение работы. Данные — docs/benchmark.md, воспроизводится python bench/benchmark.py.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3CFF08-323F-D057-3D49-9CCCB58651F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Диаграмма — время расчёта, секунды, парк из 8 бортов (201 и Gemini поровну). Планировщик занимает одно ядро; пул процессов нужен фронту Парето и советнику.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E2BFEF3-99C6-0050-A88B-8DAB2274D30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1F0089-4AAB-ABF9-9667-9C54CDA89C4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CD50722-510C-DA7E-4B19-3B7ED33ABF6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B0AF51-E3D1-937D-7F90-A91115B4C80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4630666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1141612009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780567976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249461198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9531442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422042957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768091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18.09.2026</a:t>
            </a:fld>
            <a:endParaRPr lang="ru-RU"/>
          </a:p>
        </p:txBody>
      </p:sp>
      <p:sp>
        <p:nvSpPr>
          <p:cNvPr id="213670545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9645699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4</a:t>
            </a:fld>
            <a:endParaRPr lang="ru-RU"/>
          </a:p>
        </p:txBody>
      </p:sp>
      <p:sp>
        <p:nvSpPr>
          <p:cNvPr id="92772752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2041206886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952672101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93192543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64353741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330280292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7733671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18.09.2026</a:t>
            </a:fld>
            <a:endParaRPr lang="ru-RU"/>
          </a:p>
        </p:txBody>
      </p:sp>
      <p:sp>
        <p:nvSpPr>
          <p:cNvPr id="202779636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5978029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5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8339686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74675470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18.09.2026</a:t>
            </a:fld>
            <a:endParaRPr lang="ru-RU"/>
          </a:p>
        </p:txBody>
      </p:sp>
      <p:sp>
        <p:nvSpPr>
          <p:cNvPr id="94505074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3948761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1945174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4622833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87977010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7620513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18.09.2026</a:t>
            </a:fld>
            <a:endParaRPr lang="ru-RU"/>
          </a:p>
        </p:txBody>
      </p:sp>
      <p:sp>
        <p:nvSpPr>
          <p:cNvPr id="71199199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747019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278838715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735881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71969558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707843199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5748073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6261265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18.09.2026</a:t>
            </a:fld>
            <a:endParaRPr lang="ru-RU"/>
          </a:p>
        </p:txBody>
      </p:sp>
      <p:sp>
        <p:nvSpPr>
          <p:cNvPr id="1692687120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16553507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1571968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5246001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18.09.2026</a:t>
            </a:fld>
            <a:endParaRPr lang="ru-RU"/>
          </a:p>
        </p:txBody>
      </p:sp>
      <p:sp>
        <p:nvSpPr>
          <p:cNvPr id="112345031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1313743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083343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95247779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86376593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284213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18.09.2026</a:t>
            </a:fld>
            <a:endParaRPr lang="ru-RU"/>
          </a:p>
        </p:txBody>
      </p:sp>
      <p:sp>
        <p:nvSpPr>
          <p:cNvPr id="82874870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3844057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233802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18.09.2026</a:t>
            </a:fld>
            <a:endParaRPr lang="ru-RU"/>
          </a:p>
        </p:txBody>
      </p:sp>
      <p:sp>
        <p:nvSpPr>
          <p:cNvPr id="1398693199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809491967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97270924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904053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18.09.2026</a:t>
            </a:fld>
            <a:endParaRPr lang="ru-RU"/>
          </a:p>
        </p:txBody>
      </p:sp>
      <p:sp>
        <p:nvSpPr>
          <p:cNvPr id="85953184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3711768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65513835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425427872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824042867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0356032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648971304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855131671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148147020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37356032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419690897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85652995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2031920686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392612826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691375838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241501527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1133029684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630331325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1264559755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078365953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21611495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4087227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18.09.2026</a:t>
            </a:fld>
            <a:endParaRPr lang="ru-RU"/>
          </a:p>
        </p:txBody>
      </p:sp>
      <p:sp>
        <p:nvSpPr>
          <p:cNvPr id="15654442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9873351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688706506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71256372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97344242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05033385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80449776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5638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18.09.2026</a:t>
            </a:fld>
            <a:endParaRPr lang="ru-RU"/>
          </a:p>
        </p:txBody>
      </p:sp>
      <p:sp>
        <p:nvSpPr>
          <p:cNvPr id="50275569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29408551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13174694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703027372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53078764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71952123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80812223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1299664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756005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18.09.2026</a:t>
            </a:fld>
            <a:endParaRPr lang="ru-RU"/>
          </a:p>
        </p:txBody>
      </p:sp>
      <p:sp>
        <p:nvSpPr>
          <p:cNvPr id="161969147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1695514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44974868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43300319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4663073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91740850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57375720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7952490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86726007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564602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18.09.2026</a:t>
            </a:fld>
            <a:endParaRPr lang="ru-RU"/>
          </a:p>
        </p:txBody>
      </p:sp>
      <p:sp>
        <p:nvSpPr>
          <p:cNvPr id="81377686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6355104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71336608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875627381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5400214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7563109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68527342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58746514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55755993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8208888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88458935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17161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18.09.2026</a:t>
            </a:fld>
            <a:endParaRPr lang="ru-RU"/>
          </a:p>
        </p:txBody>
      </p:sp>
      <p:sp>
        <p:nvSpPr>
          <p:cNvPr id="25115632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4662954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002481277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19857875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23805524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17352568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70756705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6318926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85282000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9499405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446309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286516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18.09.2026</a:t>
            </a:fld>
            <a:endParaRPr lang="ru-RU"/>
          </a:p>
        </p:txBody>
      </p:sp>
      <p:sp>
        <p:nvSpPr>
          <p:cNvPr id="76316594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2056211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887267387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54895721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0502653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29718742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90720677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38441431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15251180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71584553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19079093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741641074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54443849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530670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18.09.2026</a:t>
            </a:fld>
            <a:endParaRPr lang="ru-RU"/>
          </a:p>
        </p:txBody>
      </p:sp>
      <p:sp>
        <p:nvSpPr>
          <p:cNvPr id="195542196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4651488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357587124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32051158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1032731180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381544433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1481788527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1750357126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260724092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0607253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131025141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18.09.2026</a:t>
            </a:fld>
            <a:endParaRPr lang="ru-RU"/>
          </a:p>
        </p:txBody>
      </p:sp>
      <p:sp>
        <p:nvSpPr>
          <p:cNvPr id="135627725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11841083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7416539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485519227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098751105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43659916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873584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18.09.2026</a:t>
            </a:fld>
            <a:endParaRPr lang="ru-RU"/>
          </a:p>
        </p:txBody>
      </p:sp>
      <p:sp>
        <p:nvSpPr>
          <p:cNvPr id="133548263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22267710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78056922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1553788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54421437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827508024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735030724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6498444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941284668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3196629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724798844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80223379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38284080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91984113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94897443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2243350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280275615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32128071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58358551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67507830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2579447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995171051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18.09.2026</a:t>
            </a:fld>
            <a:endParaRPr lang="ru-RU"/>
          </a:p>
        </p:txBody>
      </p:sp>
      <p:sp>
        <p:nvSpPr>
          <p:cNvPr id="1599058022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73967542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9948393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567992940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977441489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909790193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479963981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18.09.2026</a:t>
            </a:fld>
            <a:endParaRPr lang="ru-RU"/>
          </a:p>
        </p:txBody>
      </p:sp>
      <p:sp>
        <p:nvSpPr>
          <p:cNvPr id="121736614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4774428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902937123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041874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90913832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39398879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01489599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904775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213191465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18933286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18.09.2026</a:t>
            </a:fld>
            <a:endParaRPr lang="ru-RU"/>
          </a:p>
        </p:txBody>
      </p:sp>
      <p:sp>
        <p:nvSpPr>
          <p:cNvPr id="20922675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06051298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5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1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6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0.png"/><Relationship Id="rId4" Type="http://schemas.openxmlformats.org/officeDocument/2006/relationships/image" Target="../media/image9.jpg"/><Relationship Id="rId5" Type="http://schemas.openxmlformats.org/officeDocument/2006/relationships/image" Target="../media/image10.jpg"/><Relationship Id="rId6" Type="http://schemas.openxmlformats.org/officeDocument/2006/relationships/image" Target="../media/image1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Relationship Id="rId4" Type="http://schemas.openxmlformats.org/officeDocument/2006/relationships/chart" Target="../charts/char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0.png"/><Relationship Id="rId4" Type="http://schemas.openxmlformats.org/officeDocument/2006/relationships/chart" Target="../charts/char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Relationship Id="rId4" Type="http://schemas.openxmlformats.org/officeDocument/2006/relationships/image" Target="../media/image7.jpg"/><Relationship Id="rId5" Type="http://schemas.openxmlformats.org/officeDocument/2006/relationships/image" Target="../media/image8.jpg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8916072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rPr lang="ru-RU" sz="4800"/>
              <a:t>[НАЗВАНИЕ КОМАНДЫ]</a:t>
            </a:r>
            <a:endParaRPr lang="ru-RU" sz="4800"/>
          </a:p>
        </p:txBody>
      </p:sp>
      <p:sp>
        <p:nvSpPr>
          <p:cNvPr id="48869008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/>
          <a:lstStyle/>
          <a:p>
            <a:pPr indent="268288">
              <a:defRPr/>
            </a:pPr>
            <a:r>
              <a:rPr lang="ru-RU"/>
              <a:t>Задача 5. Сервис планирования и распределения беспилотных авиационных работ</a:t>
            </a:r>
            <a:endParaRPr lang="ru-RU"/>
          </a:p>
        </p:txBody>
      </p:sp>
      <p:sp>
        <p:nvSpPr>
          <p:cNvPr id="1242083511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2098916073" name="Picture 2098916072" descr="Логотип GEOSC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186" y="614632"/>
            <a:ext cx="3108960" cy="5129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5921817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pic>
        <p:nvPicPr>
          <p:cNvPr id="686966749" name="Рисунок 1" descr="Интерфейс сервиса: фронт Парето, график вылетов и маршруты четырёх бортов на карте"/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rcRect l="31" r="31"/>
          <a:stretch>
            <a:fillRect/>
          </a:stretch>
        </p:blipFill>
        <p:spPr>
          <a:xfrm>
            <a:off x="0" y="335267"/>
            <a:ext cx="6456363" cy="2971784"/>
          </a:xfrm>
        </p:spPr>
      </p:pic>
      <p:sp>
        <p:nvSpPr>
          <p:cNvPr id="675914866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1668004623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Geoscan Planner, Mission Planner и QGroundControl планируют один борт. Мы распределяем работу по разнородному парку и даём выбрать компромисс «время работ — налёт».</a:t>
            </a:r>
            <a:endParaRPr/>
          </a:p>
        </p:txBody>
      </p:sp>
      <p:sp>
        <p:nvSpPr>
          <p:cNvPr id="1096675426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Капитан: [ФИО, специальность]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Участников: [N] человек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Как образовалась команда: [заполнить]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Место работы / учёбы: [заполнить]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Город и регион: [заполнить]</a:t>
            </a:r>
          </a:p>
        </p:txBody>
      </p:sp>
      <p:sp>
        <p:nvSpPr>
          <p:cNvPr id="1244160651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1135680501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r>
              <a:rPr lang="ru-RU" sz="2400">
                <a:solidFill>
                  <a:schemeClr val="accent5"/>
                </a:solidFill>
                <a:latin typeface="Montserrat"/>
              </a:rPr>
              <a:t>[НАЗВАНИЕ КОМАНДЫ]</a:t>
            </a: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634387374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931289625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70285971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82530481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481293215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Веб-сервис делит область съёмки между бортами парка Геоскан и строит каждому полётное задание: галсы, развороты, вылеты по заряду, обход запретных зон, ветер и рельеф. Экспорт — KML и GeoJSON.</a:t>
            </a:r>
            <a:endParaRPr/>
          </a:p>
        </p:txBody>
      </p:sp>
      <p:sp>
        <p:nvSpPr>
          <p:cNvPr id="805103687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ru-RU" sz="1200">
                <a:solidFill>
                  <a:schemeClr val="accent5"/>
                </a:solidFill>
              </a:rPr>
              <a:t>8</a:t>
            </a:r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8615353" name="Скругленный прямоугольник 55"/>
          <p:cNvSpPr/>
          <p:nvPr/>
        </p:nvSpPr>
        <p:spPr bwMode="auto">
          <a:xfrm>
            <a:off x="265139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61455521" name="Текст 8"/>
          <p:cNvSpPr txBox="1"/>
          <p:nvPr/>
        </p:nvSpPr>
        <p:spPr bwMode="auto"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[Роль]</a:t>
            </a:r>
            <a:endParaRPr/>
          </a:p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[Telegram]</a:t>
            </a:r>
          </a:p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[Телефон]</a:t>
            </a:r>
          </a:p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[Место работы/учёбы]</a:t>
            </a:r>
          </a:p>
        </p:txBody>
      </p:sp>
      <p:sp>
        <p:nvSpPr>
          <p:cNvPr id="1058685589" name="Текст 8"/>
          <p:cNvSpPr txBox="1"/>
          <p:nvPr/>
        </p:nvSpPr>
        <p:spPr bwMode="auto"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[Имя Фамилия]</a:t>
            </a:r>
            <a:endParaRPr/>
          </a:p>
        </p:txBody>
      </p:sp>
      <p:sp>
        <p:nvSpPr>
          <p:cNvPr id="63811239" name="Скругленный прямоугольник 58"/>
          <p:cNvSpPr/>
          <p:nvPr/>
        </p:nvSpPr>
        <p:spPr bwMode="auto">
          <a:xfrm>
            <a:off x="495671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16710643" name="Текст 8"/>
          <p:cNvSpPr txBox="1"/>
          <p:nvPr/>
        </p:nvSpPr>
        <p:spPr bwMode="auto"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[Роль]</a:t>
            </a:r>
            <a:endParaRPr/>
          </a:p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[Telegram]</a:t>
            </a:r>
          </a:p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[Телефон]</a:t>
            </a:r>
          </a:p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[Место работы/учёбы]</a:t>
            </a:r>
          </a:p>
        </p:txBody>
      </p:sp>
      <p:sp>
        <p:nvSpPr>
          <p:cNvPr id="1054469056" name="Текст 8"/>
          <p:cNvSpPr txBox="1"/>
          <p:nvPr/>
        </p:nvSpPr>
        <p:spPr bwMode="auto"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[Имя Фамилия]</a:t>
            </a:r>
            <a:endParaRPr/>
          </a:p>
        </p:txBody>
      </p:sp>
      <p:sp>
        <p:nvSpPr>
          <p:cNvPr id="1251960252" name="Скругленный прямоугольник 61"/>
          <p:cNvSpPr/>
          <p:nvPr/>
        </p:nvSpPr>
        <p:spPr bwMode="auto">
          <a:xfrm>
            <a:off x="7262031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48765179" name="Текст 8"/>
          <p:cNvSpPr txBox="1"/>
          <p:nvPr/>
        </p:nvSpPr>
        <p:spPr bwMode="auto"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[Роль]</a:t>
            </a:r>
            <a:endParaRPr/>
          </a:p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[Telegram]</a:t>
            </a:r>
          </a:p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[Телефон]</a:t>
            </a:r>
          </a:p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[Место работы/учёбы]</a:t>
            </a:r>
          </a:p>
        </p:txBody>
      </p:sp>
      <p:sp>
        <p:nvSpPr>
          <p:cNvPr id="2116286745" name="Текст 8"/>
          <p:cNvSpPr txBox="1"/>
          <p:nvPr/>
        </p:nvSpPr>
        <p:spPr bwMode="auto"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[Имя Фамилия]</a:t>
            </a:r>
            <a:endParaRPr/>
          </a:p>
        </p:txBody>
      </p:sp>
      <p:sp>
        <p:nvSpPr>
          <p:cNvPr id="1314593988" name="Скругленный прямоугольник 64"/>
          <p:cNvSpPr/>
          <p:nvPr/>
        </p:nvSpPr>
        <p:spPr bwMode="auto">
          <a:xfrm>
            <a:off x="9567349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605529467" name="Текст 8"/>
          <p:cNvSpPr txBox="1"/>
          <p:nvPr/>
        </p:nvSpPr>
        <p:spPr bwMode="auto"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[Роль]</a:t>
            </a:r>
            <a:endParaRPr/>
          </a:p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[Telegram]</a:t>
            </a:r>
          </a:p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[Телефон]</a:t>
            </a:r>
          </a:p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[Место работы/учёбы]</a:t>
            </a:r>
          </a:p>
        </p:txBody>
      </p:sp>
      <p:sp>
        <p:nvSpPr>
          <p:cNvPr id="342575697" name="Текст 8"/>
          <p:cNvSpPr txBox="1"/>
          <p:nvPr/>
        </p:nvSpPr>
        <p:spPr bwMode="auto"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[Имя Фамилия]</a:t>
            </a:r>
            <a:endParaRPr/>
          </a:p>
        </p:txBody>
      </p:sp>
      <p:sp>
        <p:nvSpPr>
          <p:cNvPr id="213781207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97366316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38879490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9</a:t>
            </a:r>
            <a:endParaRPr lang="ru-RU">
              <a:solidFill>
                <a:schemeClr val="bg1"/>
              </a:solidFill>
            </a:endParaRPr>
          </a:p>
        </p:txBody>
      </p:sp>
      <p:sp>
        <p:nvSpPr>
          <p:cNvPr id="1260699621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1486636947" name="Рисунок 2"/>
          <p:cNvSpPr>
            <a:spLocks noGrp="1"/>
          </p:cNvSpPr>
          <p:nvPr>
            <p:ph type="pic" sz="quarter" idx="4294967295"/>
          </p:nvPr>
        </p:nvSpPr>
        <p:spPr bwMode="auto"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957925855" name="Рисунок 3"/>
          <p:cNvSpPr>
            <a:spLocks noGrp="1"/>
          </p:cNvSpPr>
          <p:nvPr>
            <p:ph type="pic" sz="quarter" idx="4294967295"/>
          </p:nvPr>
        </p:nvSpPr>
        <p:spPr bwMode="auto">
          <a:xfrm>
            <a:off x="5191784" y="1809238"/>
            <a:ext cx="1722567" cy="1559717"/>
          </a:xfrm>
        </p:spPr>
        <p:txBody>
          <a:bodyPr/>
          <a:p/>
        </p:txBody>
      </p:sp>
      <p:sp>
        <p:nvSpPr>
          <p:cNvPr id="158293228" name="Рисунок 4"/>
          <p:cNvSpPr>
            <a:spLocks noGrp="1"/>
          </p:cNvSpPr>
          <p:nvPr>
            <p:ph type="pic" sz="quarter" idx="4294967295"/>
          </p:nvPr>
        </p:nvSpPr>
        <p:spPr bwMode="auto">
          <a:xfrm>
            <a:off x="7520208" y="1809238"/>
            <a:ext cx="1722567" cy="1559717"/>
          </a:xfrm>
        </p:spPr>
        <p:txBody>
          <a:bodyPr/>
          <a:p/>
        </p:txBody>
      </p:sp>
      <p:sp>
        <p:nvSpPr>
          <p:cNvPr id="2129037379" name="Рисунок 5"/>
          <p:cNvSpPr>
            <a:spLocks noGrp="1"/>
          </p:cNvSpPr>
          <p:nvPr>
            <p:ph type="pic" sz="quarter" idx="4294967295"/>
          </p:nvPr>
        </p:nvSpPr>
        <p:spPr bwMode="auto">
          <a:xfrm>
            <a:off x="9802422" y="1809238"/>
            <a:ext cx="1722566" cy="1559717"/>
          </a:xfrm>
        </p:spPr>
        <p:txBody>
          <a:bodyPr/>
          <a:p/>
        </p:txBody>
      </p:sp>
      <p:sp>
        <p:nvSpPr>
          <p:cNvPr id="1022219245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>
                <a:latin typeface="Montserrat"/>
              </a:rPr>
              <a:t>СОСТАВ КОМАНДЫ</a:t>
            </a:r>
            <a:endParaRPr lang="ru-RU">
              <a:latin typeface="Montserrat"/>
            </a:endParaRPr>
          </a:p>
        </p:txBody>
      </p:sp>
      <p:sp>
        <p:nvSpPr>
          <p:cNvPr id="972760199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[Роль]</a:t>
            </a:r>
            <a:endParaRPr/>
          </a:p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[Telegram]</a:t>
            </a:r>
          </a:p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[Телефон]</a:t>
            </a:r>
          </a:p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[Место работы/учёбы]</a:t>
            </a:r>
          </a:p>
        </p:txBody>
      </p:sp>
      <p:sp>
        <p:nvSpPr>
          <p:cNvPr id="1270630445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[Имя Фамилия]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4259416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793210227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10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247762359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>
                <a:latin typeface="Montserrat"/>
              </a:rPr>
              <a:t>КАК МЫ РАБОТАЛИ</a:t>
            </a:r>
            <a:endParaRPr lang="ru-RU">
              <a:latin typeface="Montserrat"/>
            </a:endParaRPr>
          </a:p>
        </p:txBody>
      </p:sp>
      <p:sp>
        <p:nvSpPr>
          <p:cNvPr id="1906406580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[Как собрались, участвовали ли вместе в хакатонах — заполнить]</a:t>
            </a:r>
            <a:endParaRPr/>
          </a:p>
        </p:txBody>
      </p:sp>
      <p:sp>
        <p:nvSpPr>
          <p:cNvPr id="1671155865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1754952091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Самолёту негде развернуться у запретной зоны — оставили запас на петлю и отдали эти полосы мультироторам. На 110 км² коптеры не долетали до своих полос — добавили разбиение с учётом дальности. Бенчмарк показал проигрыш равному делению — добавили мультистарт.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316898902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582960992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Один борт давно умеют планировать Geoscan Planner и Mission Planner. Распределять работу по разнородному парку с учётом заряда и ветра — нет. Это настоящая задача оптимизации.</a:t>
            </a:r>
            <a:endParaRPr/>
          </a:p>
        </p:txBody>
      </p:sp>
      <p:sp>
        <p:nvSpPr>
          <p:cNvPr id="2026061691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465791418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6290821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80331046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739372331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232035627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518437582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818022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84129133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18761099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2168838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11</a:t>
            </a:r>
            <a:endParaRPr lang="ru-RU">
              <a:solidFill>
                <a:schemeClr val="bg1"/>
              </a:solidFill>
            </a:endParaRPr>
          </a:p>
        </p:txBody>
      </p:sp>
      <p:sp>
        <p:nvSpPr>
          <p:cNvPr id="1972294107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Ядро на Python рассчитывает параметры съёмки по ТТХ бортов, строит галсы с учётом ветра, развороты по Дубинсу, обходит запретные зоны и высотные препятствия, режет маршрут на вылеты по заряду и делит область между бортами.</a:t>
            </a:r>
            <a:endParaRPr/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Читает данные заказчика: зоны ограничений с диапазоном высот и временем действия, высотные препятствия, задание на съёмку. Два критерия и фронт Парето, рельеф Copernicus DEM, советник по срокам. Веб-интерфейс на React + Leaflet, один Docker-контейнер, ключи не нужны.</a:t>
            </a:r>
          </a:p>
        </p:txBody>
      </p:sp>
      <p:sp>
        <p:nvSpPr>
          <p:cNvPr id="395082726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Операторы парков БВС в геодезии, мониторинге инфраструктуры, агро и геофизике: вместо ручной нарезки области на несколько бортов — готовые задания за секунды.</a:t>
            </a:r>
            <a:endParaRPr/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Быстрее получить данные: на случайном наборе из 30 сценариев план в 1,33 раза быстрее ручного деления оператором и выигрывает в 93 % сравнимых случаев.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Отвечает на вопросы заказчика: уложимся ли в срок, сколько бортов для этого нужно и сколько ресурса до ТО израсходует каждый борт.</a:t>
            </a:r>
          </a:p>
        </p:txBody>
      </p:sp>
      <p:sp>
        <p:nvSpPr>
          <p:cNvPr id="204615649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1601682855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</a:t>
            </a:r>
            <a:endParaRPr/>
          </a:p>
        </p:txBody>
      </p:sp>
      <p:sp>
        <p:nvSpPr>
          <p:cNvPr id="177885578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Для кого и зачем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8927728" name="Прямоугольник 29"/>
          <p:cNvSpPr/>
          <p:nvPr/>
        </p:nvSpPr>
        <p:spPr bwMode="auto"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28901403" name="Объект 28"/>
          <p:cNvSpPr>
            <a:spLocks noGrp="1"/>
          </p:cNvSpPr>
          <p:nvPr>
            <p:ph idx="1"/>
          </p:nvPr>
        </p:nvSpPr>
        <p:spPr bwMode="auto">
          <a:xfrm>
            <a:off x="521133" y="1263123"/>
            <a:ext cx="5574868" cy="4937652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b="1">
                <a:solidFill>
                  <a:schemeClr val="tx1"/>
                </a:solidFill>
              </a:rPr>
              <a:t>Запуск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docker compose up --build → http://127.0.0.1:8000</a:t>
            </a:r>
          </a:p>
          <a:p>
            <a:pPr marL="0" indent="0">
              <a:spcBef>
                <a:spcPts val="1000"/>
              </a:spcBef>
              <a:buNone/>
              <a:defRPr/>
            </a:pPr>
            <a:r>
              <a:rPr lang="ru-RU" b="1">
                <a:solidFill>
                  <a:schemeClr val="tx1"/>
                </a:solidFill>
              </a:rPr>
              <a:t>Код и документация</a:t>
            </a:r>
          </a:p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[ссылка на репозиторий]</a:t>
            </a:r>
          </a:p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README, docs/: архитектура, алгоритм, API, руководство, ограничения, бенчмарк</a:t>
            </a:r>
          </a:p>
          <a:p>
            <a:pPr marL="0" indent="0">
              <a:spcBef>
                <a:spcPts val="1000"/>
              </a:spcBef>
              <a:buNone/>
              <a:defRPr/>
            </a:pPr>
            <a:r>
              <a:rPr lang="ru-RU" b="1">
                <a:solidFill>
                  <a:schemeClr val="tx1"/>
                </a:solidFill>
              </a:rPr>
              <a:t>Контакты</a:t>
            </a:r>
          </a:p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[капитан, Telegram]</a:t>
            </a:r>
          </a:p>
        </p:txBody>
      </p:sp>
      <p:sp>
        <p:nvSpPr>
          <p:cNvPr id="63378190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19</a:t>
            </a:r>
            <a:endParaRPr lang="ru-RU"/>
          </a:p>
        </p:txBody>
      </p:sp>
      <p:sp>
        <p:nvSpPr>
          <p:cNvPr id="2141868403" name="Заголовок 27"/>
          <p:cNvSpPr>
            <a:spLocks noGrp="1"/>
          </p:cNvSpPr>
          <p:nvPr>
            <p:ph type="title"/>
          </p:nvPr>
        </p:nvSpPr>
        <p:spPr bwMode="auto">
          <a:xfrm>
            <a:off x="527444" y="395288"/>
            <a:ext cx="5574868" cy="425729"/>
          </a:xfrm>
        </p:spPr>
        <p:txBody>
          <a:bodyPr/>
          <a:lstStyle/>
          <a:p>
            <a:pPr>
              <a:defRPr/>
            </a:pPr>
            <a:r>
              <a:rPr lang="ru-RU" sz="2000">
                <a:solidFill>
                  <a:schemeClr val="accent5"/>
                </a:solidFill>
              </a:rPr>
              <a:t>СПАСИБО!</a:t>
            </a:r>
            <a:endParaRPr lang="ru-RU" sz="20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6171791" name="Скругленный прямоугольник 3"/>
          <p:cNvSpPr/>
          <p:nvPr/>
        </p:nvSpPr>
        <p:spPr bwMode="auto"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68782096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4</a:t>
            </a:r>
            <a:endParaRPr lang="ru-RU">
              <a:solidFill>
                <a:schemeClr val="bg1"/>
              </a:solidFill>
            </a:endParaRPr>
          </a:p>
        </p:txBody>
      </p:sp>
      <p:sp>
        <p:nvSpPr>
          <p:cNvPr id="194508892" name="Заголовок 1"/>
          <p:cNvSpPr>
            <a:spLocks noGrp="1"/>
          </p:cNvSpPr>
          <p:nvPr>
            <p:ph type="title"/>
          </p:nvPr>
        </p:nvSpPr>
        <p:spPr bwMode="auto">
          <a:xfrm>
            <a:off x="533104" y="414049"/>
            <a:ext cx="5994696" cy="552061"/>
          </a:xfrm>
        </p:spPr>
        <p:txBody>
          <a:bodyPr/>
          <a:lstStyle/>
          <a:p>
            <a:pPr>
              <a:defRPr/>
            </a:pPr>
            <a:r>
              <a:rPr lang="ru-RU" sz="3600">
                <a:solidFill>
                  <a:schemeClr val="bg1"/>
                </a:solidFill>
              </a:rPr>
              <a:t>ДАННЫЕ ЗАКАЗЧИКА</a:t>
            </a:r>
            <a:endParaRPr lang="ru-RU" sz="3600">
              <a:solidFill>
                <a:schemeClr val="bg1"/>
              </a:solidFill>
            </a:endParaRPr>
          </a:p>
        </p:txBody>
      </p:sp>
      <p:pic>
        <p:nvPicPr>
          <p:cNvPr id="1066171792" name="Picture 1066171791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3754" y="1556279"/>
            <a:ext cx="7049886" cy="3745441"/>
          </a:xfrm>
          <a:prstGeom prst="rect">
            <a:avLst/>
          </a:prstGeom>
        </p:spPr>
      </p:pic>
      <p:sp>
        <p:nvSpPr>
          <p:cNvPr id="1066171793" name="TextBox 1066171792"/>
          <p:cNvSpPr txBox="1"/>
          <p:nvPr/>
        </p:nvSpPr>
        <p:spPr>
          <a:xfrm>
            <a:off x="640080" y="525780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b="1" sz="1600">
                <a:solidFill>
                  <a:srgbClr val="2A1B4A"/>
                </a:solidFill>
              </a:rPr>
              <a:t>341 зона ограничений, 5162 препятствия, 696 участков задания — из файлов заказчика</a:t>
            </a:r>
          </a:p>
          <a:p>
            <a:pPr marL="0" indent="0">
              <a:buNone/>
            </a:pPr>
            <a:r>
              <a:rPr sz="1300">
                <a:solidFill>
                  <a:srgbClr val="2A1B4A"/>
                </a:solidFill>
              </a:rPr>
              <a:t>Высоты зон записаны текстом («От земли до 500 м (1700 фут) AMSL», «От FL280 до FL400»), времени действия нет: мы предложили формат и разбираем эти записи. Зона режет область, только если её высоты пересекаются с высотами работ; препятствие выше высоты съёмки сервис облетает.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9230298" name="Скругленный прямоугольник 8"/>
          <p:cNvSpPr/>
          <p:nvPr/>
        </p:nvSpPr>
        <p:spPr bwMode="auto"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27680785" name="Номер слайда 1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3</a:t>
            </a:r>
            <a:endParaRPr lang="ru-RU">
              <a:solidFill>
                <a:schemeClr val="bg1"/>
              </a:solidFill>
            </a:endParaRPr>
          </a:p>
        </p:txBody>
      </p:sp>
      <p:sp>
        <p:nvSpPr>
          <p:cNvPr id="680390965" name="Заголовок 2"/>
          <p:cNvSpPr>
            <a:spLocks noGrp="1"/>
          </p:cNvSpPr>
          <p:nvPr>
            <p:ph type="title"/>
          </p:nvPr>
        </p:nvSpPr>
        <p:spPr bwMode="auto">
          <a:xfrm>
            <a:off x="622040" y="496888"/>
            <a:ext cx="4781233" cy="415925"/>
          </a:xfrm>
        </p:spPr>
        <p:txBody>
          <a:bodyPr/>
          <a:lstStyle/>
          <a:p>
            <a:pPr>
              <a:defRPr/>
            </a:pPr>
            <a:r>
              <a:rPr lang="ru-RU" sz="2000">
                <a:solidFill>
                  <a:schemeClr val="accent5"/>
                </a:solidFill>
              </a:rPr>
              <a:t>ДЕМО: 4 БОРТА, 6,3 КМ²</a:t>
            </a:r>
            <a:endParaRPr lang="ru-RU" sz="2000">
              <a:solidFill>
                <a:schemeClr val="accent5"/>
              </a:solidFill>
            </a:endParaRPr>
          </a:p>
        </p:txBody>
      </p:sp>
      <p:pic>
        <p:nvPicPr>
          <p:cNvPr id="776835691" name="Рисунок 3" descr="Маршруты четырёх бортов вокруг запретной зоны в демо-сценарии"/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rcRect l="42" r="42"/>
          <a:stretch>
            <a:fillRect/>
          </a:stretch>
        </p:blipFill>
        <p:spPr>
          <a:xfrm>
            <a:off x="6096001" y="0"/>
            <a:ext cx="6096000" cy="6857999"/>
          </a:xfrm>
        </p:spPr>
      </p:pic>
      <p:sp>
        <p:nvSpPr>
          <p:cNvPr id="985373069" name="Текст 6"/>
          <p:cNvSpPr>
            <a:spLocks noGrp="1"/>
          </p:cNvSpPr>
          <p:nvPr>
            <p:ph type="body" sz="quarter" idx="14"/>
          </p:nvPr>
        </p:nvSpPr>
        <p:spPr bwMode="auto">
          <a:xfrm>
            <a:off x="595433" y="1143695"/>
            <a:ext cx="4807840" cy="47173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b="1">
                <a:solidFill>
                  <a:schemeClr val="tx1"/>
                </a:solidFill>
              </a:rPr>
              <a:t>Сценарий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Геоскан 201, два Gemini и 801, две ВПП, запретная зона в центре, ветер 5 м/с, RGB 3 см/пикс.</a:t>
            </a:r>
          </a:p>
          <a:p>
            <a:pPr marL="0" indent="0">
              <a:spcBef>
                <a:spcPts val="800"/>
              </a:spcBef>
              <a:buNone/>
              <a:defRPr/>
            </a:pPr>
            <a:r>
              <a:rPr lang="ru-RU" b="1">
                <a:solidFill>
                  <a:schemeClr val="tx1"/>
                </a:solidFill>
              </a:rPr>
              <a:t>Что сделал сервис</a:t>
            </a:r>
          </a:p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Самолёт снимает основную часть длинными галсами с петлями на разворотах. Кольцо вокруг запретной зоны, где самолёту не развернуться, забрал Геоскан 801.</a:t>
            </a:r>
          </a:p>
          <a:p>
            <a:pPr marL="0" indent="0">
              <a:spcBef>
                <a:spcPts val="800"/>
              </a:spcBef>
              <a:buNone/>
              <a:defRPr/>
            </a:pPr>
            <a:r>
              <a:rPr lang="ru-RU" b="1">
                <a:solidFill>
                  <a:schemeClr val="tx1"/>
                </a:solidFill>
              </a:rPr>
              <a:t>Итог</a:t>
            </a:r>
          </a:p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Все работы за 58 мин, покрытие 100 %, ни одного пересечения запретной зоны. Один лучший борт потратил бы 83 мин и оставил бы неснятыми 4 % у запретной зоны.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1773812" name="Заголовок 5"/>
          <p:cNvSpPr>
            <a:spLocks noGrp="1"/>
          </p:cNvSpPr>
          <p:nvPr>
            <p:ph type="title"/>
          </p:nvPr>
        </p:nvSpPr>
        <p:spPr bwMode="auto">
          <a:xfrm>
            <a:off x="533490" y="370426"/>
            <a:ext cx="5562510" cy="442374"/>
          </a:xfrm>
        </p:spPr>
        <p:txBody>
          <a:bodyPr/>
          <a:lstStyle/>
          <a:p>
            <a:pPr>
              <a:defRPr/>
            </a:pPr>
            <a:r>
              <a:rPr lang="ru-RU" sz="2000">
                <a:solidFill>
                  <a:schemeClr val="accent5"/>
                </a:solidFill>
              </a:rPr>
              <a:t>ДОПУЩЕНИЯ И ОГРАНИЧЕНИЯ</a:t>
            </a:r>
            <a:endParaRPr lang="ru-RU" sz="2000">
              <a:solidFill>
                <a:schemeClr val="accent5"/>
              </a:solidFill>
            </a:endParaRPr>
          </a:p>
        </p:txBody>
      </p:sp>
      <p:sp>
        <p:nvSpPr>
          <p:cNvPr id="220624811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521133" y="1695025"/>
            <a:ext cx="11155680" cy="712587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Часть ТТХ задана командой (АКБ 801, крейсерская скорость 201, смена АКБ) — помечены в датасете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040050484" name="Текст 8"/>
          <p:cNvSpPr>
            <a:spLocks noGrp="1"/>
          </p:cNvSpPr>
          <p:nvPr>
            <p:ph type="body" sz="quarter" idx="16"/>
          </p:nvPr>
        </p:nvSpPr>
        <p:spPr bwMode="auto">
          <a:xfrm>
            <a:off x="521133" y="2552035"/>
            <a:ext cx="11155680" cy="712587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Энергия — по паспортной продолжительности с резервом и поправкой на ветер, без телеметрии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478120020" name="Текст 9"/>
          <p:cNvSpPr>
            <a:spLocks noGrp="1"/>
          </p:cNvSpPr>
          <p:nvPr>
            <p:ph type="body" sz="quarter" idx="17"/>
          </p:nvPr>
        </p:nvSpPr>
        <p:spPr bwMode="auto">
          <a:xfrm>
            <a:off x="521133" y="3409044"/>
            <a:ext cx="11155680" cy="712587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Ветер постоянный по области; развороты самолёта без учёта сноса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825509603" name="Текст 10"/>
          <p:cNvSpPr>
            <a:spLocks noGrp="1"/>
          </p:cNvSpPr>
          <p:nvPr>
            <p:ph type="body" sz="quarter" idx="18"/>
          </p:nvPr>
        </p:nvSpPr>
        <p:spPr bwMode="auto">
          <a:xfrm>
            <a:off x="521133" y="4266053"/>
            <a:ext cx="11155680" cy="712587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Время действия зон в данных заказчика отсутствует: формат готов, окно задаёт пользователь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0450800" name="Текст 11"/>
          <p:cNvSpPr>
            <a:spLocks noGrp="1"/>
          </p:cNvSpPr>
          <p:nvPr>
            <p:ph type="body" sz="quarter" idx="19"/>
          </p:nvPr>
        </p:nvSpPr>
        <p:spPr bwMode="auto">
          <a:xfrm>
            <a:off x="521133" y="5123063"/>
            <a:ext cx="11155680" cy="712587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Оптимизация эвристическая: хороший план за секунды, глобальный оптимум не гарантирован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33827626" name="Номер слайда 2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441475" y="6356350"/>
            <a:ext cx="558800" cy="365125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17</a:t>
            </a:r>
            <a:endParaRPr lang="ru-RU">
              <a:solidFill>
                <a:schemeClr val="accent5"/>
              </a:solidFill>
            </a:endParaRPr>
          </a:p>
        </p:txBody>
      </p:sp>
      <p:cxnSp>
        <p:nvCxnSpPr>
          <p:cNvPr id="602163193" name="Прямая соединительная линия 1"/>
          <p:cNvCxnSpPr/>
          <p:nvPr/>
        </p:nvCxnSpPr>
        <p:spPr bwMode="auto"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945437143" name="Прямая соединительная линия 3"/>
          <p:cNvCxnSpPr/>
          <p:nvPr/>
        </p:nvCxnSpPr>
        <p:spPr bwMode="auto"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10989343" name="Прямая соединительная линия 12"/>
          <p:cNvCxnSpPr/>
          <p:nvPr/>
        </p:nvCxnSpPr>
        <p:spPr bwMode="auto"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01262306" name="Прямая соединительная линия 13"/>
          <p:cNvCxnSpPr/>
          <p:nvPr/>
        </p:nvCxnSpPr>
        <p:spPr bwMode="auto"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17425545" name="Прямая соединительная линия 14"/>
          <p:cNvCxnSpPr/>
          <p:nvPr/>
        </p:nvCxnSpPr>
        <p:spPr bwMode="auto"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7719291" name="Скругленный прямоугольник 9"/>
          <p:cNvSpPr/>
          <p:nvPr/>
        </p:nvSpPr>
        <p:spPr bwMode="auto">
          <a:xfrm>
            <a:off x="346075" y="324562"/>
            <a:ext cx="213969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43057752" name="Скругленный прямоугольник 22"/>
          <p:cNvSpPr/>
          <p:nvPr/>
        </p:nvSpPr>
        <p:spPr bwMode="auto"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6679565" name="Скругленный прямоугольник 23"/>
          <p:cNvSpPr/>
          <p:nvPr/>
        </p:nvSpPr>
        <p:spPr bwMode="auto"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76061303" name="Скругленный прямоугольник 24"/>
          <p:cNvSpPr/>
          <p:nvPr/>
        </p:nvSpPr>
        <p:spPr bwMode="auto"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41316948" name="Скругленный прямоугольник 26"/>
          <p:cNvSpPr/>
          <p:nvPr/>
        </p:nvSpPr>
        <p:spPr bwMode="auto"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0129984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5</a:t>
            </a:r>
            <a:endParaRPr lang="ru-RU">
              <a:solidFill>
                <a:schemeClr val="bg1"/>
              </a:solidFill>
            </a:endParaRPr>
          </a:p>
        </p:txBody>
      </p:sp>
      <p:sp>
        <p:nvSpPr>
          <p:cNvPr id="1078343227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520913" y="2339783"/>
            <a:ext cx="2284071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Галсы и ветер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511735797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20913" y="3128740"/>
            <a:ext cx="2284071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Направление галсов перебираем по рёбрам полигона и оцениваем по времени с учётом ветра. Дыры и вогнутости — клеточная декомпозиция boustrophedon.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68319285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3457903" y="2373557"/>
            <a:ext cx="233741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Развороты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192444851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3457903" y="3134070"/>
            <a:ext cx="233741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Самолёт — кратчайшие пути Дубинса, R = V²/(g·tg φ): при узком шаге получается петля, как в Geoscan Planner. Коптер — остановка и разгон.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799537320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6456363" y="2379657"/>
            <a:ext cx="2268537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Зоны, высоты, заряд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915594622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456363" y="3136604"/>
            <a:ext cx="2268537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Зона мешает, только если её полоса высот пересекает высоты работ. Перелёты — по графу видимости вокруг зон и препятствий, маршрут режется на вылеты по заряду.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665283250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9407534" y="2339783"/>
            <a:ext cx="2263553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Парк и критерии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286716245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9407534" y="3128739"/>
            <a:ext cx="226355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Доли области по производительности и дальности, балансировка по факту, локальный поиск. Фронт Парето: взвешенная сумма и ε-ограничения.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89293309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АЛГОРИТМ</a:t>
            </a:r>
            <a:endParaRPr lang="ru-RU"/>
          </a:p>
        </p:txBody>
      </p:sp>
      <p:sp>
        <p:nvSpPr>
          <p:cNvPr id="959989241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772415"/>
            <a:ext cx="771003" cy="423628"/>
          </a:xfrm>
        </p:spPr>
        <p:txBody>
          <a:bodyPr/>
          <a:lstStyle/>
          <a:p>
            <a:pPr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891401211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3449944" y="1766200"/>
            <a:ext cx="771003" cy="403756"/>
          </a:xfrm>
        </p:spPr>
        <p:txBody>
          <a:bodyPr/>
          <a:lstStyle/>
          <a:p>
            <a:pPr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227142548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456363" y="1766043"/>
            <a:ext cx="771003" cy="403913"/>
          </a:xfrm>
        </p:spPr>
        <p:txBody>
          <a:bodyPr/>
          <a:lstStyle/>
          <a:p>
            <a:pPr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971718300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9407534" y="1772415"/>
            <a:ext cx="771003" cy="423628"/>
          </a:xfrm>
        </p:spPr>
        <p:txBody>
          <a:bodyPr/>
          <a:lstStyle/>
          <a:p>
            <a:pPr>
              <a:defRPr/>
            </a:pPr>
            <a:r>
              <a:rPr lang="ru-RU" b="1">
                <a:solidFill>
                  <a:schemeClr val="accent5"/>
                </a:solidFill>
              </a:rPr>
              <a:t>04</a:t>
            </a: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7870481" name="Скругленный прямоугольник 7"/>
          <p:cNvSpPr/>
          <p:nvPr/>
        </p:nvSpPr>
        <p:spPr bwMode="auto"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52719362" name="Скругленный прямоугольник 8"/>
          <p:cNvSpPr/>
          <p:nvPr/>
        </p:nvSpPr>
        <p:spPr bwMode="auto">
          <a:xfrm>
            <a:off x="8365957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14666128" name="Скругленный прямоугольник 9"/>
          <p:cNvSpPr/>
          <p:nvPr/>
        </p:nvSpPr>
        <p:spPr bwMode="auto"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43727323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18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218945454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780565" y="2493074"/>
            <a:ext cx="2965634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800">
                <a:solidFill>
                  <a:srgbClr val="F92571"/>
                </a:solidFill>
              </a:rPr>
              <a:t>Точнее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1666342276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780565" y="3128740"/>
            <a:ext cx="296563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Калибровка энергомодели по телеметрии, прогноз ветра по высотам, трохоидальные развороты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561576320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4623178" y="2493074"/>
            <a:ext cx="303489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800">
                <a:solidFill>
                  <a:srgbClr val="F92571"/>
                </a:solidFill>
              </a:rPr>
              <a:t>Безопаснее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1869884715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4623178" y="3128740"/>
            <a:ext cx="303489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Автоматическое разведение бортов по высоте и времени, загрузка зон из официальных источников по расписанию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306959530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8547959" y="2493074"/>
            <a:ext cx="2945464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800">
                <a:solidFill>
                  <a:srgbClr val="F92571"/>
                </a:solidFill>
              </a:rPr>
              <a:t>Ближе к полёту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1110999338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8547959" y="3128740"/>
            <a:ext cx="2945464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Экспорт в формат Geoscan Planner и MAVLink, перепланирование по ходу работ, очередь ТО парка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711074207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6" y="335426"/>
            <a:ext cx="11331221" cy="376138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ПЛАНЫ РАЗВИТИЯ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769520772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780565" y="1772415"/>
            <a:ext cx="1311031" cy="601141"/>
          </a:xfrm>
        </p:spPr>
        <p:txBody>
          <a:bodyPr/>
          <a:lstStyle/>
          <a:p>
            <a:pPr>
              <a:defRPr/>
            </a:pPr>
            <a:r>
              <a:rPr lang="ru-RU" sz="4400" b="1">
                <a:solidFill>
                  <a:schemeClr val="accent5"/>
                </a:solidFill>
              </a:rPr>
              <a:t>01</a:t>
            </a:r>
            <a:endParaRPr lang="ru-RU" sz="4400" b="1">
              <a:solidFill>
                <a:schemeClr val="accent5"/>
              </a:solidFill>
            </a:endParaRPr>
          </a:p>
        </p:txBody>
      </p:sp>
      <p:sp>
        <p:nvSpPr>
          <p:cNvPr id="2025139124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4615219" y="1766200"/>
            <a:ext cx="1311031" cy="572942"/>
          </a:xfrm>
        </p:spPr>
        <p:txBody>
          <a:bodyPr/>
          <a:lstStyle/>
          <a:p>
            <a:pPr>
              <a:defRPr/>
            </a:pPr>
            <a:r>
              <a:rPr lang="ru-RU" sz="4400" b="1">
                <a:solidFill>
                  <a:schemeClr val="accent5"/>
                </a:solidFill>
              </a:rPr>
              <a:t>02</a:t>
            </a:r>
            <a:endParaRPr lang="ru-RU" sz="4400" b="1">
              <a:solidFill>
                <a:schemeClr val="accent5"/>
              </a:solidFill>
            </a:endParaRPr>
          </a:p>
        </p:txBody>
      </p:sp>
      <p:sp>
        <p:nvSpPr>
          <p:cNvPr id="1666928380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8547959" y="1766043"/>
            <a:ext cx="1311031" cy="573165"/>
          </a:xfrm>
        </p:spPr>
        <p:txBody>
          <a:bodyPr/>
          <a:lstStyle/>
          <a:p>
            <a:pPr>
              <a:defRPr/>
            </a:pPr>
            <a:r>
              <a:rPr lang="ru-RU" sz="4400" b="1">
                <a:solidFill>
                  <a:schemeClr val="accent5"/>
                </a:solidFill>
              </a:rPr>
              <a:t>03</a:t>
            </a:r>
            <a:endParaRPr lang="ru-RU" sz="4400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2314806" name="Скругленный прямоугольник 22"/>
          <p:cNvSpPr/>
          <p:nvPr/>
        </p:nvSpPr>
        <p:spPr bwMode="auto">
          <a:xfrm>
            <a:off x="346075" y="324562"/>
            <a:ext cx="4105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0271690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16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059348601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1615961" y="1428776"/>
            <a:ext cx="3866856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Ядро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68854950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1615964" y="1996388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Python 3.12: shapely, pyproj, networkx, numpy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804923100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1596604" y="3032761"/>
            <a:ext cx="386685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API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253144962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1596604" y="3580500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FastAPI, OpenAPI-документация, pydantic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12479966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1596604" y="4616873"/>
            <a:ext cx="3866856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Интерфейс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441570954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1596604" y="5164612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React, TypeScript, Leaflet, OpenStreetMap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84031197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7289068" y="1428776"/>
            <a:ext cx="3866856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Данные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103603882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7289071" y="1996388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ТТХ в YAML, зоны и препятствия заказчика, рельеф Copernicus DEM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9414180" name="Текст 9"/>
          <p:cNvSpPr>
            <a:spLocks noGrp="1"/>
          </p:cNvSpPr>
          <p:nvPr>
            <p:ph type="body" sz="quarter" idx="45"/>
          </p:nvPr>
        </p:nvSpPr>
        <p:spPr bwMode="auto">
          <a:xfrm>
            <a:off x="7269712" y="3032761"/>
            <a:ext cx="386685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Экспорт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780237066" name="Текст 10"/>
          <p:cNvSpPr>
            <a:spLocks noGrp="1"/>
          </p:cNvSpPr>
          <p:nvPr>
            <p:ph type="body" sz="quarter" idx="46"/>
          </p:nvPr>
        </p:nvSpPr>
        <p:spPr bwMode="auto">
          <a:xfrm>
            <a:off x="7269712" y="3580500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GeoJSON (RFC 7946), KML 2.2, ZIP по плану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491600374" name="Текст 11"/>
          <p:cNvSpPr>
            <a:spLocks noGrp="1"/>
          </p:cNvSpPr>
          <p:nvPr>
            <p:ph type="body" sz="quarter" idx="47"/>
          </p:nvPr>
        </p:nvSpPr>
        <p:spPr bwMode="auto">
          <a:xfrm>
            <a:off x="7269712" y="4616873"/>
            <a:ext cx="3866856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Качество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833588086" name="Текст 12"/>
          <p:cNvSpPr>
            <a:spLocks noGrp="1"/>
          </p:cNvSpPr>
          <p:nvPr>
            <p:ph type="body" sz="quarter" idx="48"/>
          </p:nvPr>
        </p:nvSpPr>
        <p:spPr bwMode="auto">
          <a:xfrm>
            <a:off x="7269712" y="5164612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132 автотеста, честный бенчмарк, Docker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8909772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АРХИТЕКТУРА И СТЕК</a:t>
            </a:r>
            <a:endParaRPr lang="ru-RU"/>
          </a:p>
        </p:txBody>
      </p:sp>
      <p:sp>
        <p:nvSpPr>
          <p:cNvPr id="326858125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394052"/>
            <a:ext cx="771003" cy="423628"/>
          </a:xfrm>
        </p:spPr>
        <p:txBody>
          <a:bodyPr/>
          <a:lstStyle/>
          <a:p>
            <a:pPr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580038078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501557" y="2998036"/>
            <a:ext cx="771003" cy="403756"/>
          </a:xfrm>
        </p:spPr>
        <p:txBody>
          <a:bodyPr/>
          <a:lstStyle/>
          <a:p>
            <a:pPr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57508628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501557" y="4582148"/>
            <a:ext cx="771003" cy="403913"/>
          </a:xfrm>
        </p:spPr>
        <p:txBody>
          <a:bodyPr/>
          <a:lstStyle/>
          <a:p>
            <a:pPr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2019827210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6194020" y="1394052"/>
            <a:ext cx="771003" cy="423628"/>
          </a:xfrm>
        </p:spPr>
        <p:txBody>
          <a:bodyPr/>
          <a:lstStyle/>
          <a:p>
            <a:pPr>
              <a:defRPr/>
            </a:pPr>
            <a:r>
              <a:rPr lang="ru-RU" b="1">
                <a:solidFill>
                  <a:schemeClr val="accent5"/>
                </a:solidFill>
              </a:rPr>
              <a:t>04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452809513" name="Текст 18"/>
          <p:cNvSpPr>
            <a:spLocks noGrp="1"/>
          </p:cNvSpPr>
          <p:nvPr>
            <p:ph type="body" sz="quarter" idx="53"/>
          </p:nvPr>
        </p:nvSpPr>
        <p:spPr bwMode="auto">
          <a:xfrm>
            <a:off x="6174664" y="2998036"/>
            <a:ext cx="771003" cy="403756"/>
          </a:xfrm>
        </p:spPr>
        <p:txBody>
          <a:bodyPr/>
          <a:lstStyle/>
          <a:p>
            <a:pPr>
              <a:defRPr/>
            </a:pPr>
            <a:r>
              <a:rPr lang="ru-RU" b="1">
                <a:solidFill>
                  <a:schemeClr val="accent5"/>
                </a:solidFill>
              </a:rPr>
              <a:t>05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878426587" name="Текст 19"/>
          <p:cNvSpPr>
            <a:spLocks noGrp="1"/>
          </p:cNvSpPr>
          <p:nvPr>
            <p:ph type="body" sz="quarter" idx="54"/>
          </p:nvPr>
        </p:nvSpPr>
        <p:spPr bwMode="auto">
          <a:xfrm>
            <a:off x="6174664" y="4582148"/>
            <a:ext cx="771003" cy="403913"/>
          </a:xfrm>
        </p:spPr>
        <p:txBody>
          <a:bodyPr/>
          <a:lstStyle/>
          <a:p>
            <a:pPr>
              <a:defRPr/>
            </a:pPr>
            <a:r>
              <a:rPr lang="ru-RU" b="1">
                <a:solidFill>
                  <a:schemeClr val="accent5"/>
                </a:solidFill>
              </a:rPr>
              <a:t>06</a:t>
            </a: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9506719" name="Скругленный прямоугольник 1"/>
          <p:cNvSpPr/>
          <p:nvPr/>
        </p:nvSpPr>
        <p:spPr bwMode="auto">
          <a:xfrm>
            <a:off x="346075" y="324562"/>
            <a:ext cx="351586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384664750" name="Номер слайда 6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13</a:t>
            </a:r>
            <a:endParaRPr lang="ru-RU">
              <a:solidFill>
                <a:schemeClr val="accent5"/>
              </a:solidFill>
            </a:endParaRPr>
          </a:p>
        </p:txBody>
      </p:sp>
      <p:pic>
        <p:nvPicPr>
          <p:cNvPr id="1946121707" name="Рисунок 2" descr="Магнитная съёмка двумя Геоскан 401 с секущими маршрутами"/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rcRect t="62" b="62"/>
          <a:stretch>
            <a:fillRect/>
          </a:stretch>
        </p:blipFill>
        <p:spPr>
          <a:xfrm>
            <a:off x="7440147" y="1016001"/>
            <a:ext cx="4405777" cy="3078479"/>
          </a:xfrm>
        </p:spPr>
      </p:pic>
      <p:pic>
        <p:nvPicPr>
          <p:cNvPr id="1512573901" name="Рисунок 3" descr="LiDAR-съёмка двумя Геоскан 401"/>
          <p:cNvPicPr>
            <a:picLocks noGrp="1" noChangeAspect="1"/>
          </p:cNvPicPr>
          <p:nvPr>
            <p:ph type="pic" sz="quarter" idx="11"/>
          </p:nvPr>
        </p:nvPicPr>
        <p:blipFill>
          <a:blip r:embed="rId5"/>
          <a:srcRect l="71" r="71"/>
          <a:stretch>
            <a:fillRect/>
          </a:stretch>
        </p:blipFill>
        <p:spPr>
          <a:xfrm>
            <a:off x="7440149" y="4389108"/>
            <a:ext cx="4405775" cy="1811668"/>
          </a:xfrm>
        </p:spPr>
      </p:pic>
      <p:pic>
        <p:nvPicPr>
          <p:cNvPr id="2109437233" name="Рисунок 4" descr="Разбиение 110 км² между самолётами и мультироторами с учётом дальности"/>
          <p:cNvPicPr>
            <a:picLocks noGrp="1" noChangeAspect="1"/>
          </p:cNvPicPr>
          <p:nvPr>
            <p:ph type="pic" sz="quarter" idx="12"/>
          </p:nvPr>
        </p:nvPicPr>
        <p:blipFill>
          <a:blip r:embed="rId6"/>
          <a:srcRect t="76" b="76"/>
          <a:stretch>
            <a:fillRect/>
          </a:stretch>
        </p:blipFill>
        <p:spPr>
          <a:xfrm>
            <a:off x="346075" y="3223948"/>
            <a:ext cx="6806142" cy="2976827"/>
          </a:xfrm>
        </p:spPr>
      </p:pic>
      <p:sp>
        <p:nvSpPr>
          <p:cNvPr id="1100381646" name="Текст 5"/>
          <p:cNvSpPr>
            <a:spLocks noGrp="1"/>
          </p:cNvSpPr>
          <p:nvPr>
            <p:ph type="body" sz="quarter" idx="14"/>
          </p:nvPr>
        </p:nvSpPr>
        <p:spPr bwMode="auto">
          <a:prstGeom prst="roundRect">
            <a:avLst>
              <a:gd name="adj" fmla="val 10128"/>
            </a:avLst>
          </a:prstGeom>
          <a:solidFill>
            <a:schemeClr val="bg1"/>
          </a:solidFill>
          <a:ln>
            <a:solidFill>
              <a:schemeClr val="accent5"/>
            </a:solidFill>
          </a:ln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tx1"/>
                </a:solidFill>
              </a:rPr>
              <a:t>RGB, мультиспектр, ИК — по GSD и перекрытиям; LiDAR — по плотности точек; геофизика — малая высота, огибание рельефа и секущие маршруты.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>
                <a:solidFill>
                  <a:schemeClr val="tx1"/>
                </a:solidFill>
              </a:rPr>
              <a:t>Для LiDAR и геофизики в датасет добавлен Геоскан 401 (ТТХ из его руководства): в приложении к ТЗ таких нагрузок нет.</a:t>
            </a:r>
          </a:p>
        </p:txBody>
      </p:sp>
      <p:sp>
        <p:nvSpPr>
          <p:cNvPr id="322754075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7315200" cy="376138"/>
          </a:xfrm>
        </p:spPr>
        <p:txBody>
          <a:bodyPr/>
          <a:lstStyle/>
          <a:p>
            <a:pPr>
              <a:defRPr/>
            </a:pPr>
            <a:r>
              <a:rPr lang="ru-RU"/>
              <a:t>ВСЕ ТИПЫ СЪЁМКИ</a:t>
            </a: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404609" name="Скругленный прямоугольник 1"/>
          <p:cNvSpPr/>
          <p:nvPr/>
        </p:nvSpPr>
        <p:spPr bwMode="auto">
          <a:xfrm>
            <a:off x="346075" y="324562"/>
            <a:ext cx="292608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3267392" name="Скругленный прямоугольник 16"/>
          <p:cNvSpPr/>
          <p:nvPr/>
        </p:nvSpPr>
        <p:spPr bwMode="auto"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705028026" name="Скругленный прямоугольник 17"/>
          <p:cNvSpPr/>
          <p:nvPr/>
        </p:nvSpPr>
        <p:spPr bwMode="auto"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682058439" name="Скругленный прямоугольник 18"/>
          <p:cNvSpPr/>
          <p:nvPr/>
        </p:nvSpPr>
        <p:spPr bwMode="auto"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264458047" name="Скругленный прямоугольник 22"/>
          <p:cNvSpPr/>
          <p:nvPr/>
        </p:nvSpPr>
        <p:spPr bwMode="auto"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856646513" name="Скругленный прямоугольник 23"/>
          <p:cNvSpPr/>
          <p:nvPr/>
        </p:nvSpPr>
        <p:spPr bwMode="auto"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2138244014" name="Скругленный прямоугольник 14"/>
          <p:cNvSpPr/>
          <p:nvPr/>
        </p:nvSpPr>
        <p:spPr bwMode="auto">
          <a:xfrm>
            <a:off x="346076" y="1366423"/>
            <a:ext cx="5389562" cy="4834351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572888461" name="Текст 3"/>
          <p:cNvSpPr>
            <a:spLocks noGrp="1"/>
          </p:cNvSpPr>
          <p:nvPr>
            <p:ph type="body" sz="quarter" idx="14"/>
          </p:nvPr>
        </p:nvSpPr>
        <p:spPr bwMode="auto">
          <a:xfrm>
            <a:off x="623887" y="1732103"/>
            <a:ext cx="4734174" cy="4139307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 marL="0" indent="0">
              <a:buNone/>
              <a:defRPr/>
            </a:pPr>
            <a:r>
              <a:rPr lang="ru-RU" sz="2400" b="1">
                <a:solidFill>
                  <a:schemeClr val="tx1"/>
                </a:solidFill>
              </a:rPr>
              <a:t>Диспетчер парка, а не планировщик одного борта</a:t>
            </a:r>
            <a:endParaRPr lang="ru-RU" sz="3600" b="1">
              <a:solidFill>
                <a:schemeClr val="tx1"/>
              </a:solidFill>
            </a:endParaRPr>
          </a:p>
          <a:p>
            <a:pPr algn="l" marL="0" indent="0">
              <a:spcBef>
                <a:spcPts val="1400"/>
              </a:spcBef>
              <a:buNone/>
              <a:defRPr/>
            </a:pPr>
            <a:r>
              <a:rPr lang="ru-RU" sz="1800" b="1">
                <a:solidFill>
                  <a:schemeClr val="tx1"/>
                </a:solidFill>
              </a:rPr>
              <a:t>Существующие программы строят задание одному аппарату. Сервис решает, кто что снимает, с какой базы и за сколько вылетов, и показывает цену выбора между скоростью и налётом.</a:t>
            </a:r>
          </a:p>
        </p:txBody>
      </p:sp>
      <p:sp>
        <p:nvSpPr>
          <p:cNvPr id="792620368" name="Текст 4"/>
          <p:cNvSpPr>
            <a:spLocks noGrp="1"/>
          </p:cNvSpPr>
          <p:nvPr>
            <p:ph type="body" sz="quarter" idx="15"/>
          </p:nvPr>
        </p:nvSpPr>
        <p:spPr bwMode="auto">
          <a:xfrm>
            <a:off x="6172730" y="1445505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Физика полёта: ветер, развороты самолёта, заряд, смена АКБ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760448067" name="Текст 5"/>
          <p:cNvSpPr>
            <a:spLocks noGrp="1"/>
          </p:cNvSpPr>
          <p:nvPr>
            <p:ph type="body" sz="quarter" idx="16"/>
          </p:nvPr>
        </p:nvSpPr>
        <p:spPr bwMode="auto">
          <a:xfrm>
            <a:off x="6172730" y="247287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Данные заказчика читаются как есть: высоты зон и препятствия из KML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599652688" name="Текст 6"/>
          <p:cNvSpPr>
            <a:spLocks noGrp="1"/>
          </p:cNvSpPr>
          <p:nvPr>
            <p:ph type="body" sz="quarter" idx="17"/>
          </p:nvPr>
        </p:nvSpPr>
        <p:spPr bwMode="auto">
          <a:xfrm>
            <a:off x="6172730" y="348592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Зона мешает, только если её высоты пересекаются с высотами работ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11792085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6172730" y="4496593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Советник: сколько бортов нужно к сроку и сколько времени займут работы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41314687" name="Текст 8"/>
          <p:cNvSpPr>
            <a:spLocks noGrp="1"/>
          </p:cNvSpPr>
          <p:nvPr>
            <p:ph type="body" sz="quarter" idx="19"/>
          </p:nvPr>
        </p:nvSpPr>
        <p:spPr bwMode="auto">
          <a:xfrm>
            <a:off x="6172730" y="5516924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Ресурс до ТО и потолок 150 м — по нормативам, а не «на глаз»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84119058" name="Номер слайда 9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633200" y="6356350"/>
            <a:ext cx="558800" cy="365125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15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509672408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УНИКАЛЬНОСТЬ</a:t>
            </a: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6985566" name="Скругленный прямоугольник 13"/>
          <p:cNvSpPr/>
          <p:nvPr/>
        </p:nvSpPr>
        <p:spPr bwMode="auto"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741679259" name="Скругленный прямоугольник 11"/>
          <p:cNvSpPr/>
          <p:nvPr/>
        </p:nvSpPr>
        <p:spPr bwMode="auto"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377037658" name="Скругленный прямоугольник 10"/>
          <p:cNvSpPr/>
          <p:nvPr/>
        </p:nvSpPr>
        <p:spPr bwMode="auto"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518802965" name="Скругленный прямоугольник 1"/>
          <p:cNvSpPr/>
          <p:nvPr/>
        </p:nvSpPr>
        <p:spPr bwMode="auto">
          <a:xfrm>
            <a:off x="346075" y="324562"/>
            <a:ext cx="253288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92465394" name="Номер слайда 8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6</a:t>
            </a:r>
            <a:endParaRPr lang="ru-RU"/>
          </a:p>
        </p:txBody>
      </p:sp>
      <p:sp>
        <p:nvSpPr>
          <p:cNvPr id="978850912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1" sz="2400">
                <a:solidFill>
                  <a:schemeClr val="tx1"/>
                </a:solidFill>
              </a:rPr>
              <a:t>1,33×</a:t>
            </a:r>
            <a:endParaRPr lang="ru-RU" b="0">
              <a:solidFill>
                <a:schemeClr val="tx1"/>
              </a:solidFill>
            </a:endParaRPr>
          </a:p>
        </p:txBody>
      </p:sp>
      <p:sp>
        <p:nvSpPr>
          <p:cNvPr id="1882305830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591637" y="1649793"/>
            <a:ext cx="4790314" cy="779602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выигрыш по времени работ против ручного деления оператором — медиана 30 случайных сценариев, победа в 93 % случаев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95788791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1" sz="2400">
                <a:solidFill>
                  <a:schemeClr val="tx1"/>
                </a:solidFill>
              </a:rPr>
              <a:t>1,81×</a:t>
            </a:r>
            <a:endParaRPr lang="ru-RU" b="0">
              <a:solidFill>
                <a:schemeClr val="tx1"/>
              </a:solidFill>
            </a:endParaRPr>
          </a:p>
        </p:txBody>
      </p:sp>
      <p:sp>
        <p:nvSpPr>
          <p:cNvPr id="32952924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591637" y="3515862"/>
            <a:ext cx="4790314" cy="869021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выигрыш по времени работ против одного лучшего борта (медиана)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10159186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1" sz="2400">
                <a:solidFill>
                  <a:schemeClr val="tx1"/>
                </a:solidFill>
              </a:rPr>
              <a:t>30 из 30</a:t>
            </a:r>
            <a:endParaRPr lang="ru-RU" b="0">
              <a:solidFill>
                <a:schemeClr val="tx1"/>
              </a:solidFill>
            </a:endParaRPr>
          </a:p>
        </p:txBody>
      </p:sp>
      <p:sp>
        <p:nvSpPr>
          <p:cNvPr id="1950394813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591637" y="5471798"/>
            <a:ext cx="4790314" cy="84801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случайных сценариев сняты полностью (≥ 99,5 %); 0 пересечений запретных зон, 132 автотеста</a:t>
            </a:r>
            <a:endParaRPr lang="ru-RU">
              <a:solidFill>
                <a:schemeClr val="tx1"/>
              </a:solidFill>
            </a:endParaRPr>
          </a:p>
        </p:txBody>
      </p:sp>
      <p:graphicFrame>
        <p:nvGraphicFramePr>
          <p:cNvPr id="2419065" name="Диаграмма 9"/>
          <p:cNvGraphicFramePr>
            <a:graphicFrameLocks xmlns:a="http://schemas.openxmlformats.org/drawingml/2006/main"/>
          </p:cNvGraphicFramePr>
          <p:nvPr/>
        </p:nvGraphicFramePr>
        <p:xfrm rot="0"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20108580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2763648" cy="376138"/>
          </a:xfrm>
        </p:spPr>
        <p:txBody>
          <a:bodyPr/>
          <a:lstStyle/>
          <a:p>
            <a:pPr>
              <a:defRPr/>
            </a:pPr>
            <a:r>
              <a:rPr lang="ru-RU"/>
              <a:t>РЕЗУЛЬТАТЫ</a:t>
            </a:r>
            <a:endParaRPr lang="ru-RU"/>
          </a:p>
        </p:txBody>
      </p:sp>
      <p:sp>
        <p:nvSpPr>
          <p:cNvPr id="1950394814" name="TextBox 1950394813"/>
          <p:cNvSpPr txBox="1"/>
          <p:nvPr/>
        </p:nvSpPr>
        <p:spPr>
          <a:xfrm>
            <a:off x="530352" y="11430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</a:rPr>
              <a:t>Во сколько раз дольше идут работы при базовых подходах (наш план = 1)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2478375" name="Скругленный прямоугольник 1"/>
          <p:cNvSpPr/>
          <p:nvPr/>
        </p:nvSpPr>
        <p:spPr bwMode="auto">
          <a:xfrm>
            <a:off x="346075" y="324562"/>
            <a:ext cx="3712463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93641962" name="Номер слайда 1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14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584306364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1" sz="2000">
                <a:solidFill>
                  <a:schemeClr val="accent5"/>
                </a:solidFill>
              </a:rPr>
              <a:t>0,5–19 с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360653769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755267" y="1722800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5"/>
                </a:solidFill>
              </a:rPr>
              <a:t>расчёт плана для областей от 1 до 400 км² и парка до 16 бортов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153003913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1" sz="2000">
                <a:solidFill>
                  <a:schemeClr val="accent5"/>
                </a:solidFill>
              </a:rPr>
              <a:t>400 км²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118671500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755267" y="2991361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5"/>
                </a:solidFill>
              </a:rPr>
              <a:t>16 бортов — план за 13 с; 110 км², 5 бортов — за 5 с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726115762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1" sz="2000">
                <a:solidFill>
                  <a:schemeClr val="accent5"/>
                </a:solidFill>
              </a:rPr>
              <a:t>Дальность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746240602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755267" y="4259922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5"/>
                </a:solidFill>
              </a:rPr>
              <a:t>крупные области делятся с учётом радиуса действия каждого борта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09284231" name="Текст 8"/>
          <p:cNvSpPr>
            <a:spLocks noGrp="1"/>
          </p:cNvSpPr>
          <p:nvPr>
            <p:ph type="body" sz="quarter" idx="26"/>
          </p:nvPr>
        </p:nvSpPr>
        <p:spPr bwMode="auto"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1" sz="2000">
                <a:solidFill>
                  <a:schemeClr val="accent5"/>
                </a:solidFill>
              </a:rPr>
              <a:t>Docker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698214148" name="Текст 9"/>
          <p:cNvSpPr>
            <a:spLocks noGrp="1"/>
          </p:cNvSpPr>
          <p:nvPr>
            <p:ph type="body" sz="quarter" idx="27"/>
          </p:nvPr>
        </p:nvSpPr>
        <p:spPr bwMode="auto">
          <a:xfrm>
            <a:off x="6755267" y="5528484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5"/>
                </a:solidFill>
              </a:rPr>
              <a:t>один контейнер, без внешних ключей; рельеф вшит при сборке</a:t>
            </a:r>
            <a:endParaRPr lang="ru-RU">
              <a:solidFill>
                <a:schemeClr val="accent5"/>
              </a:solidFill>
            </a:endParaRPr>
          </a:p>
        </p:txBody>
      </p:sp>
      <p:graphicFrame>
        <p:nvGraphicFramePr>
          <p:cNvPr id="1179244916" name="Диаграмма 11"/>
          <p:cNvGraphicFramePr>
            <a:graphicFrameLocks xmlns:a="http://schemas.openxmlformats.org/drawingml/2006/main"/>
          </p:cNvGraphicFramePr>
          <p:nvPr/>
        </p:nvGraphicFramePr>
        <p:xfrm rot="0"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1159453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МАСШТАБИРУЕМОСТЬ</a:t>
            </a: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2291432" name="Скругленный прямоугольник 7"/>
          <p:cNvSpPr/>
          <p:nvPr/>
        </p:nvSpPr>
        <p:spPr bwMode="auto"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661673137" name="Скругленный прямоугольник 9"/>
          <p:cNvSpPr/>
          <p:nvPr/>
        </p:nvSpPr>
        <p:spPr bwMode="auto"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062541317" name="Скругленный прямоугольник 10"/>
          <p:cNvSpPr/>
          <p:nvPr/>
        </p:nvSpPr>
        <p:spPr bwMode="auto"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762860665" name="Скругленный прямоугольник 1"/>
          <p:cNvSpPr/>
          <p:nvPr/>
        </p:nvSpPr>
        <p:spPr bwMode="auto">
          <a:xfrm>
            <a:off x="346075" y="324562"/>
            <a:ext cx="4105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55574251" name="Скругленный прямоугольник 16"/>
          <p:cNvSpPr/>
          <p:nvPr/>
        </p:nvSpPr>
        <p:spPr bwMode="auto">
          <a:xfrm>
            <a:off x="5340262" y="1366572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49624372" name="Скругленный прямоугольник 6"/>
          <p:cNvSpPr/>
          <p:nvPr/>
        </p:nvSpPr>
        <p:spPr bwMode="auto">
          <a:xfrm>
            <a:off x="1541018" y="1366572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79047827" name="Номер слайда 5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1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898286871" name="Текст 2"/>
          <p:cNvSpPr>
            <a:spLocks noGrp="1"/>
          </p:cNvSpPr>
          <p:nvPr>
            <p:ph type="body" sz="quarter" idx="26"/>
          </p:nvPr>
        </p:nvSpPr>
        <p:spPr bwMode="auto"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1">
                <a:solidFill>
                  <a:schemeClr val="tx1"/>
                </a:solidFill>
              </a:rPr>
              <a:t>Проблема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>
                <a:solidFill>
                  <a:schemeClr val="tx1"/>
                </a:solidFill>
              </a:rPr>
              <a:t>Парк из разных бортов: самолёт на 3 часа и коптеры на 40 минут. Делить область между ними вручную долго, результат далёк от оптимума, легко забыть про ветер и заряд.</a:t>
            </a:r>
          </a:p>
        </p:txBody>
      </p:sp>
      <p:sp>
        <p:nvSpPr>
          <p:cNvPr id="236283797" name="Текст 3"/>
          <p:cNvSpPr>
            <a:spLocks noGrp="1"/>
          </p:cNvSpPr>
          <p:nvPr>
            <p:ph type="body" sz="quarter" idx="31"/>
          </p:nvPr>
        </p:nvSpPr>
        <p:spPr bwMode="auto"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1">
                <a:solidFill>
                  <a:schemeClr val="tx1"/>
                </a:solidFill>
              </a:rPr>
              <a:t>Решение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>
                <a:solidFill>
                  <a:schemeClr val="tx1"/>
                </a:solidFill>
              </a:rPr>
              <a:t>Сервис сам делит область по производительности и дальности бортов, строит галсы, развороты и вылеты, обходит запретные зоны и проверяет аварийный уход на площадки.</a:t>
            </a:r>
          </a:p>
        </p:txBody>
      </p:sp>
      <p:sp>
        <p:nvSpPr>
          <p:cNvPr id="134405288" name="Текст 4"/>
          <p:cNvSpPr>
            <a:spLocks noGrp="1"/>
          </p:cNvSpPr>
          <p:nvPr>
            <p:ph type="body" sz="quarter" idx="32"/>
          </p:nvPr>
        </p:nvSpPr>
        <p:spPr bwMode="auto"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1">
                <a:solidFill>
                  <a:schemeClr val="tx1"/>
                </a:solidFill>
              </a:rPr>
              <a:t>Результат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>
                <a:solidFill>
                  <a:schemeClr val="tx1"/>
                </a:solidFill>
              </a:rPr>
              <a:t>Индивидуальные задания в KML и GeoJSON, выбор критерия «время работ» или «налёт», набор компромиссов между ними и ответ на вопрос «сколько бортов нужно к сроку». Расчёт — секунды.</a:t>
            </a:r>
          </a:p>
        </p:txBody>
      </p:sp>
      <p:cxnSp>
        <p:nvCxnSpPr>
          <p:cNvPr id="1312320421" name="Google Shape;2799;p94"/>
          <p:cNvCxnSpPr/>
          <p:nvPr/>
        </p:nvCxnSpPr>
        <p:spPr bwMode="auto"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31927020" name="Google Shape;2829;p94"/>
          <p:cNvGrpSpPr/>
          <p:nvPr/>
        </p:nvGrpSpPr>
        <p:grpSpPr bwMode="auto">
          <a:xfrm>
            <a:off x="1899087" y="1753233"/>
            <a:ext cx="738531" cy="687909"/>
            <a:chOff x="3385733" y="2233242"/>
            <a:chExt cx="340504" cy="319542"/>
          </a:xfrm>
        </p:grpSpPr>
        <p:sp>
          <p:nvSpPr>
            <p:cNvPr id="63" name="Google Shape;2830;p94"/>
            <p:cNvSpPr/>
            <p:nvPr/>
          </p:nvSpPr>
          <p:spPr bwMode="auto">
            <a:xfrm>
              <a:off x="3385733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fill="norm" stroke="1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4" name="Google Shape;2831;p94"/>
            <p:cNvSpPr/>
            <p:nvPr/>
          </p:nvSpPr>
          <p:spPr bwMode="auto">
            <a:xfrm>
              <a:off x="3420988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fill="norm" stroke="1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5" name="Google Shape;2832;p94"/>
            <p:cNvSpPr/>
            <p:nvPr/>
          </p:nvSpPr>
          <p:spPr bwMode="auto"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fill="norm" stroke="1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6" name="Google Shape;2833;p94"/>
            <p:cNvSpPr/>
            <p:nvPr/>
          </p:nvSpPr>
          <p:spPr bwMode="auto"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fill="norm" stroke="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7" name="Google Shape;2834;p94"/>
            <p:cNvSpPr/>
            <p:nvPr/>
          </p:nvSpPr>
          <p:spPr bwMode="auto"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fill="norm" stroke="1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8" name="Google Shape;2835;p94"/>
            <p:cNvSpPr/>
            <p:nvPr/>
          </p:nvSpPr>
          <p:spPr bwMode="auto">
            <a:xfrm>
              <a:off x="3420988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fill="norm" stroke="1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9" name="Google Shape;2836;p94"/>
            <p:cNvSpPr/>
            <p:nvPr/>
          </p:nvSpPr>
          <p:spPr bwMode="auto">
            <a:xfrm>
              <a:off x="3420988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fill="norm" stroke="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0" name="Google Shape;2837;p94"/>
            <p:cNvSpPr/>
            <p:nvPr/>
          </p:nvSpPr>
          <p:spPr bwMode="auto"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fill="norm" stroke="1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1" name="Google Shape;2838;p94"/>
            <p:cNvSpPr/>
            <p:nvPr/>
          </p:nvSpPr>
          <p:spPr bwMode="auto"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fill="norm" stroke="1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2" name="Google Shape;2839;p94"/>
            <p:cNvSpPr/>
            <p:nvPr/>
          </p:nvSpPr>
          <p:spPr bwMode="auto"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fill="norm" stroke="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3" name="Google Shape;2840;p94"/>
            <p:cNvSpPr/>
            <p:nvPr/>
          </p:nvSpPr>
          <p:spPr bwMode="auto"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fill="norm" stroke="1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4" name="Google Shape;2841;p94"/>
            <p:cNvSpPr/>
            <p:nvPr/>
          </p:nvSpPr>
          <p:spPr bwMode="auto"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fill="norm" stroke="1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5" name="Google Shape;2842;p94"/>
            <p:cNvSpPr/>
            <p:nvPr/>
          </p:nvSpPr>
          <p:spPr bwMode="auto">
            <a:xfrm>
              <a:off x="3646108" y="2379063"/>
              <a:ext cx="19275" cy="9873"/>
            </a:xfrm>
            <a:custGeom>
              <a:avLst/>
              <a:gdLst/>
              <a:ahLst/>
              <a:cxnLst/>
              <a:rect l="l" t="t" r="r" b="b"/>
              <a:pathLst>
                <a:path w="573" h="287" fill="norm" stroke="1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6" name="Google Shape;2843;p94"/>
            <p:cNvSpPr/>
            <p:nvPr/>
          </p:nvSpPr>
          <p:spPr bwMode="auto"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fill="norm" stroke="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grpSp>
        <p:nvGrpSpPr>
          <p:cNvPr id="1865256499" name="Google Shape;2818;p94"/>
          <p:cNvGrpSpPr/>
          <p:nvPr/>
        </p:nvGrpSpPr>
        <p:grpSpPr bwMode="auto"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/>
            <p:cNvSpPr/>
            <p:nvPr/>
          </p:nvSpPr>
          <p:spPr bwMode="auto"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fill="norm" stroke="1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5" name="Google Shape;2820;p94"/>
            <p:cNvSpPr/>
            <p:nvPr/>
          </p:nvSpPr>
          <p:spPr bwMode="auto"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fill="norm" stroke="1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6" name="Google Shape;2821;p94"/>
            <p:cNvSpPr/>
            <p:nvPr/>
          </p:nvSpPr>
          <p:spPr bwMode="auto"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fill="norm" stroke="1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7" name="Google Shape;2822;p94"/>
            <p:cNvSpPr/>
            <p:nvPr/>
          </p:nvSpPr>
          <p:spPr bwMode="auto"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fill="norm" stroke="1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8" name="Google Shape;2823;p94"/>
            <p:cNvSpPr/>
            <p:nvPr/>
          </p:nvSpPr>
          <p:spPr bwMode="auto"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fill="norm" stroke="1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9" name="Google Shape;2824;p94"/>
            <p:cNvSpPr/>
            <p:nvPr/>
          </p:nvSpPr>
          <p:spPr bwMode="auto"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fill="norm" stroke="1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0" name="Google Shape;2825;p94"/>
            <p:cNvSpPr/>
            <p:nvPr/>
          </p:nvSpPr>
          <p:spPr bwMode="auto"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fill="norm" stroke="1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1" name="Google Shape;2826;p94"/>
            <p:cNvSpPr/>
            <p:nvPr/>
          </p:nvSpPr>
          <p:spPr bwMode="auto"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fill="norm" stroke="1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2" name="Google Shape;2827;p94"/>
            <p:cNvSpPr/>
            <p:nvPr/>
          </p:nvSpPr>
          <p:spPr bwMode="auto"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fill="norm" stroke="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grpSp>
        <p:nvGrpSpPr>
          <p:cNvPr id="969182811" name="Google Shape;2805;p94"/>
          <p:cNvGrpSpPr/>
          <p:nvPr/>
        </p:nvGrpSpPr>
        <p:grpSpPr bwMode="auto"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/>
            <p:cNvSpPr/>
            <p:nvPr/>
          </p:nvSpPr>
          <p:spPr bwMode="auto"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fill="norm" stroke="1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9" name="Google Shape;2807;p94"/>
            <p:cNvSpPr/>
            <p:nvPr/>
          </p:nvSpPr>
          <p:spPr bwMode="auto"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fill="norm" stroke="1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0" name="Google Shape;2808;p94"/>
            <p:cNvSpPr/>
            <p:nvPr/>
          </p:nvSpPr>
          <p:spPr bwMode="auto"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fill="norm" stroke="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1" name="Google Shape;2809;p94"/>
            <p:cNvSpPr/>
            <p:nvPr/>
          </p:nvSpPr>
          <p:spPr bwMode="auto"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fill="norm" stroke="1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2" name="Google Shape;2810;p94"/>
            <p:cNvSpPr/>
            <p:nvPr/>
          </p:nvSpPr>
          <p:spPr bwMode="auto"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fill="norm" stroke="1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3" name="Google Shape;2811;p94"/>
            <p:cNvSpPr/>
            <p:nvPr/>
          </p:nvSpPr>
          <p:spPr bwMode="auto"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fill="norm" stroke="1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4" name="Google Shape;2812;p94"/>
            <p:cNvSpPr/>
            <p:nvPr/>
          </p:nvSpPr>
          <p:spPr bwMode="auto"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fill="norm" stroke="1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5" name="Google Shape;2813;p94"/>
            <p:cNvSpPr/>
            <p:nvPr/>
          </p:nvSpPr>
          <p:spPr bwMode="auto">
            <a:xfrm>
              <a:off x="4789296" y="2294680"/>
              <a:ext cx="168266" cy="172068"/>
            </a:xfrm>
            <a:custGeom>
              <a:avLst/>
              <a:gdLst/>
              <a:ahLst/>
              <a:cxnLst/>
              <a:rect l="l" t="t" r="r" b="b"/>
              <a:pathLst>
                <a:path w="5002" h="5002" fill="norm" stroke="1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6" name="Google Shape;2814;p94"/>
            <p:cNvSpPr/>
            <p:nvPr/>
          </p:nvSpPr>
          <p:spPr bwMode="auto"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fill="norm" stroke="1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7" name="Google Shape;2815;p94"/>
            <p:cNvSpPr/>
            <p:nvPr/>
          </p:nvSpPr>
          <p:spPr bwMode="auto">
            <a:xfrm>
              <a:off x="4883051" y="2382744"/>
              <a:ext cx="24052" cy="16856"/>
            </a:xfrm>
            <a:custGeom>
              <a:avLst/>
              <a:gdLst/>
              <a:ahLst/>
              <a:cxnLst/>
              <a:rect l="l" t="t" r="r" b="b"/>
              <a:pathLst>
                <a:path w="715" h="490" fill="norm" stroke="1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8" name="Google Shape;2816;p94"/>
            <p:cNvSpPr/>
            <p:nvPr/>
          </p:nvSpPr>
          <p:spPr bwMode="auto"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fill="norm" stroke="1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sp>
        <p:nvSpPr>
          <p:cNvPr id="51786899" name="Скругленный прямоугольник 17"/>
          <p:cNvSpPr/>
          <p:nvPr/>
        </p:nvSpPr>
        <p:spPr bwMode="auto">
          <a:xfrm>
            <a:off x="9337010" y="1396603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74321560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ПРОБЛЕМА И РЕШЕНИЕ</a:t>
            </a:r>
            <a:endParaRPr lang="ru-RU"/>
          </a:p>
        </p:txBody>
      </p:sp>
      <p:cxnSp>
        <p:nvCxnSpPr>
          <p:cNvPr id="114662454" name="Google Shape;2799;p94"/>
          <p:cNvCxnSpPr/>
          <p:nvPr/>
        </p:nvCxnSpPr>
        <p:spPr bwMode="auto"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5281501" name="Скругленный прямоугольник 11"/>
          <p:cNvSpPr/>
          <p:nvPr/>
        </p:nvSpPr>
        <p:spPr bwMode="auto">
          <a:xfrm>
            <a:off x="346075" y="324562"/>
            <a:ext cx="4302252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049427226" name="Номер слайда 12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2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032822217" name="Текст 1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0">
                <a:solidFill>
                  <a:schemeClr val="accent5"/>
                </a:solidFill>
              </a:rPr>
              <a:t>Исходные данные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139784553" name="Текст 2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814077"/>
            <a:ext cx="2526079" cy="112068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Область, зоны ограничений и высотные препятствия из данных заказчика, ВПП, парк, тип съёмки, ветер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29232669" name="Текст 3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0">
                <a:solidFill>
                  <a:schemeClr val="accent5"/>
                </a:solidFill>
              </a:rPr>
              <a:t>Параметры съёмки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265276705" name="Текст 4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814077"/>
            <a:ext cx="2526079" cy="112068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Высота, полоса, шаг галсов и скорость из GSD, плотности LiDAR или шага геофизики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21413253" name="Текст 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0">
                <a:solidFill>
                  <a:schemeClr val="accent5"/>
                </a:solidFill>
              </a:rPr>
              <a:t>Распределение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368271957" name="Текст 6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814077"/>
            <a:ext cx="2526079" cy="112068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Доли области по производительности и дальности бортов, балансировка по времени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756451346" name="Текст 7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0">
                <a:solidFill>
                  <a:schemeClr val="accent5"/>
                </a:solidFill>
              </a:rPr>
              <a:t>Маршруты и вылеты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469804582" name="Текст 8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5181340"/>
            <a:ext cx="2526079" cy="112068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Галсы по ветру, развороты Дубинса, обход NFZ, нарезка по заряду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058107036" name="Текст 9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0">
                <a:solidFill>
                  <a:schemeClr val="accent5"/>
                </a:solidFill>
              </a:rPr>
              <a:t>Проверка и экспорт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843382000" name="Текст 10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5181340"/>
            <a:ext cx="2526079" cy="112068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Уход на площадки, радиоканал, покрытие, ресурс до ТО; KML и GeoJSON на каждый борт</a:t>
            </a:r>
            <a:endParaRPr lang="ru-RU">
              <a:solidFill>
                <a:schemeClr val="tx1"/>
              </a:solidFill>
            </a:endParaRPr>
          </a:p>
        </p:txBody>
      </p:sp>
      <p:cxnSp>
        <p:nvCxnSpPr>
          <p:cNvPr id="586478257" name="Прямая соединительная линия 33"/>
          <p:cNvCxnSpPr/>
          <p:nvPr/>
        </p:nvCxnSpPr>
        <p:spPr bwMode="auto"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1302124" name="Прямая соединительная линия 34"/>
          <p:cNvCxnSpPr/>
          <p:nvPr/>
        </p:nvCxnSpPr>
        <p:spPr bwMode="auto"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0401311" name="Прямая соединительная линия 35"/>
          <p:cNvCxnSpPr/>
          <p:nvPr/>
        </p:nvCxnSpPr>
        <p:spPr bwMode="auto"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8323138" name="Прямая соединительная линия 36"/>
          <p:cNvCxnSpPr/>
          <p:nvPr/>
        </p:nvCxnSpPr>
        <p:spPr bwMode="auto"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0783400" name="Прямая соединительная линия 37"/>
          <p:cNvCxnSpPr/>
          <p:nvPr/>
        </p:nvCxnSpPr>
        <p:spPr bwMode="auto"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290814" name="Прямая соединительная линия 38"/>
          <p:cNvCxnSpPr/>
          <p:nvPr/>
        </p:nvCxnSpPr>
        <p:spPr bwMode="auto"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9612504" name="Прямая соединительная линия 39"/>
          <p:cNvCxnSpPr/>
          <p:nvPr/>
        </p:nvCxnSpPr>
        <p:spPr bwMode="auto"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8769075" name="Прямая соединительная линия 40"/>
          <p:cNvCxnSpPr/>
          <p:nvPr/>
        </p:nvCxnSpPr>
        <p:spPr bwMode="auto"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5076173" name="Прямая соединительная линия 41"/>
          <p:cNvCxnSpPr/>
          <p:nvPr/>
        </p:nvCxnSpPr>
        <p:spPr bwMode="auto"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6018202" name="Скругленный прямоугольник 42"/>
          <p:cNvSpPr/>
          <p:nvPr/>
        </p:nvSpPr>
        <p:spPr bwMode="auto">
          <a:xfrm>
            <a:off x="1191126" y="3508049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1</a:t>
            </a:r>
            <a:endParaRPr/>
          </a:p>
        </p:txBody>
      </p:sp>
      <p:sp>
        <p:nvSpPr>
          <p:cNvPr id="298088240" name="Скругленный прямоугольник 43"/>
          <p:cNvSpPr/>
          <p:nvPr/>
        </p:nvSpPr>
        <p:spPr bwMode="auto">
          <a:xfrm>
            <a:off x="3412397" y="3506136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2</a:t>
            </a:r>
            <a:endParaRPr/>
          </a:p>
        </p:txBody>
      </p:sp>
      <p:sp>
        <p:nvSpPr>
          <p:cNvPr id="1483075521" name="Скругленный прямоугольник 44"/>
          <p:cNvSpPr/>
          <p:nvPr/>
        </p:nvSpPr>
        <p:spPr bwMode="auto">
          <a:xfrm>
            <a:off x="5658594" y="3516255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3</a:t>
            </a:r>
            <a:endParaRPr/>
          </a:p>
        </p:txBody>
      </p:sp>
      <p:sp>
        <p:nvSpPr>
          <p:cNvPr id="2134845279" name="Скругленный прямоугольник 52"/>
          <p:cNvSpPr/>
          <p:nvPr/>
        </p:nvSpPr>
        <p:spPr bwMode="auto">
          <a:xfrm>
            <a:off x="7889752" y="3506134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4</a:t>
            </a:r>
            <a:endParaRPr/>
          </a:p>
        </p:txBody>
      </p:sp>
      <p:sp>
        <p:nvSpPr>
          <p:cNvPr id="1009008750" name="Скругленный прямоугольник 53"/>
          <p:cNvSpPr/>
          <p:nvPr/>
        </p:nvSpPr>
        <p:spPr bwMode="auto">
          <a:xfrm>
            <a:off x="10113011" y="3538625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5</a:t>
            </a:r>
            <a:endParaRPr/>
          </a:p>
        </p:txBody>
      </p:sp>
      <p:sp>
        <p:nvSpPr>
          <p:cNvPr id="1136760616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КАК РАБОТАЕТ СЕРВИС</a:t>
            </a:r>
            <a:endParaRPr lang="ru-RU"/>
          </a:p>
        </p:txBody>
      </p:sp>
      <p:sp>
        <p:nvSpPr>
          <p:cNvPr id="1503954071" name="Скругленный прямоугольник 13"/>
          <p:cNvSpPr/>
          <p:nvPr/>
        </p:nvSpPr>
        <p:spPr bwMode="auto"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1800681483" name="Скругленный прямоугольник 15"/>
          <p:cNvSpPr/>
          <p:nvPr/>
        </p:nvSpPr>
        <p:spPr bwMode="auto"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1309421021" name="Скругленный прямоугольник 16"/>
          <p:cNvSpPr/>
          <p:nvPr/>
        </p:nvSpPr>
        <p:spPr bwMode="auto"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677020523" name="Скругленный прямоугольник 17"/>
          <p:cNvSpPr/>
          <p:nvPr/>
        </p:nvSpPr>
        <p:spPr bwMode="auto"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1332803047" name="Скругленный прямоугольник 18"/>
          <p:cNvSpPr/>
          <p:nvPr/>
        </p:nvSpPr>
        <p:spPr bwMode="auto"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6199311" name="Скругленный прямоугольник 1"/>
          <p:cNvSpPr/>
          <p:nvPr/>
        </p:nvSpPr>
        <p:spPr bwMode="auto">
          <a:xfrm>
            <a:off x="346075" y="324562"/>
            <a:ext cx="2336292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grpSp>
        <p:nvGrpSpPr>
          <p:cNvPr id="880837635" name="Group 82"/>
          <p:cNvGrpSpPr>
            <a:grpSpLocks noChangeAspect="1"/>
          </p:cNvGrpSpPr>
          <p:nvPr/>
        </p:nvGrpSpPr>
        <p:grpSpPr bwMode="auto"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/>
            <p:cNvGrpSpPr/>
            <p:nvPr/>
          </p:nvGrpSpPr>
          <p:grpSpPr bwMode="auto"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/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3" name="Rectangle 2"/>
              <p:cNvSpPr/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4" name="AutoShape 3"/>
              <p:cNvSpPr/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5" name="Oval 4"/>
              <p:cNvSpPr/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6" name="Oval 5"/>
              <p:cNvSpPr/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7" name="Oval 6"/>
              <p:cNvSpPr/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8" name="Rectangle 92"/>
              <p:cNvSpPr/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grpSp>
            <p:nvGrpSpPr>
              <p:cNvPr id="19" name="Group 93"/>
              <p:cNvGrpSpPr/>
              <p:nvPr/>
            </p:nvGrpSpPr>
            <p:grpSpPr bwMode="auto">
              <a:xfrm>
                <a:off x="7494380" y="2779230"/>
                <a:ext cx="155357" cy="155271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/>
                <p:cNvSpPr/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3" name="Freeform 14"/>
                <p:cNvSpPr/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4" name="Freeform 15"/>
                <p:cNvSpPr/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5" name="Freeform 16"/>
                <p:cNvSpPr/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6" name="Freeform 17"/>
                <p:cNvSpPr/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7" name="Freeform 18"/>
                <p:cNvSpPr/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8" name="Freeform 19"/>
                <p:cNvSpPr/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9" name="Freeform 20"/>
                <p:cNvSpPr/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30" name="Freeform 21"/>
                <p:cNvSpPr/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</p:grpSp>
          <p:sp>
            <p:nvSpPr>
              <p:cNvPr id="20" name="Freeform 25"/>
              <p:cNvSpPr/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 fill="norm" stroke="1" extrusionOk="0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/>
              </a:bodyPr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21" name="Oval 6"/>
              <p:cNvSpPr/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</p:grpSp>
        <p:sp>
          <p:nvSpPr>
            <p:cNvPr id="10" name="TextBox 9"/>
            <p:cNvSpPr txBox="1"/>
            <p:nvPr/>
          </p:nvSpPr>
          <p:spPr bwMode="auto"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defRPr/>
              </a:pPr>
              <a:r>
                <a:rPr lang="id-ID" sz="1000">
                  <a:solidFill>
                    <a:schemeClr val="tx1"/>
                  </a:solidFill>
                  <a:latin typeface="Poppins Light"/>
                  <a:ea typeface="Poppins Light"/>
                  <a:cs typeface="Poppins Light"/>
                </a:rPr>
                <a:t>www.</a:t>
              </a:r>
              <a:r>
                <a:rPr lang="en-US" sz="1000">
                  <a:solidFill>
                    <a:schemeClr val="tx1"/>
                  </a:solidFill>
                  <a:latin typeface="Poppins Light"/>
                  <a:ea typeface="Poppins Light"/>
                  <a:cs typeface="Poppins Light"/>
                </a:rPr>
                <a:t>lider</a:t>
              </a:r>
              <a:r>
                <a:rPr lang="id-ID" sz="1000">
                  <a:solidFill>
                    <a:schemeClr val="tx1"/>
                  </a:solidFill>
                  <a:latin typeface="Poppins Light"/>
                  <a:ea typeface="Poppins Light"/>
                  <a:cs typeface="Poppins Light"/>
                </a:rPr>
                <a:t>.com</a:t>
              </a:r>
              <a:endParaRPr/>
            </a:p>
          </p:txBody>
        </p:sp>
        <p:sp>
          <p:nvSpPr>
            <p:cNvPr id="11" name="Freeform 29"/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 fill="norm" stroke="1" extrusionOk="0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id-ID">
                <a:latin typeface="Lato Light"/>
              </a:endParaRPr>
            </a:p>
          </p:txBody>
        </p:sp>
      </p:grpSp>
      <p:grpSp>
        <p:nvGrpSpPr>
          <p:cNvPr id="1025393122" name="Group 82"/>
          <p:cNvGrpSpPr>
            <a:grpSpLocks noChangeAspect="1"/>
          </p:cNvGrpSpPr>
          <p:nvPr/>
        </p:nvGrpSpPr>
        <p:grpSpPr bwMode="auto"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/>
            <p:cNvGrpSpPr/>
            <p:nvPr/>
          </p:nvGrpSpPr>
          <p:grpSpPr bwMode="auto"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/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36" name="Rectangle 2"/>
              <p:cNvSpPr/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37" name="AutoShape 3"/>
              <p:cNvSpPr/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38" name="Oval 4"/>
              <p:cNvSpPr/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39" name="Oval 5"/>
              <p:cNvSpPr/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40" name="Oval 6"/>
              <p:cNvSpPr/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41" name="Rectangle 92"/>
              <p:cNvSpPr/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grpSp>
            <p:nvGrpSpPr>
              <p:cNvPr id="42" name="Group 93"/>
              <p:cNvGrpSpPr/>
              <p:nvPr/>
            </p:nvGrpSpPr>
            <p:grpSpPr bwMode="auto">
              <a:xfrm>
                <a:off x="7494380" y="2779230"/>
                <a:ext cx="155357" cy="155271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/>
                <p:cNvSpPr/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46" name="Freeform 14"/>
                <p:cNvSpPr/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47" name="Freeform 15"/>
                <p:cNvSpPr/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48" name="Freeform 16"/>
                <p:cNvSpPr/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49" name="Freeform 17"/>
                <p:cNvSpPr/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50" name="Freeform 18"/>
                <p:cNvSpPr/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51" name="Freeform 19"/>
                <p:cNvSpPr/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52" name="Freeform 20"/>
                <p:cNvSpPr/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53" name="Freeform 21"/>
                <p:cNvSpPr/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</p:grpSp>
          <p:sp>
            <p:nvSpPr>
              <p:cNvPr id="43" name="Freeform 25"/>
              <p:cNvSpPr/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 fill="norm" stroke="1" extrusionOk="0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/>
              </a:bodyPr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44" name="Oval 6"/>
              <p:cNvSpPr/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</p:grpSp>
        <p:sp>
          <p:nvSpPr>
            <p:cNvPr id="33" name="TextBox 32"/>
            <p:cNvSpPr txBox="1"/>
            <p:nvPr/>
          </p:nvSpPr>
          <p:spPr bwMode="auto"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defRPr/>
              </a:pPr>
              <a:r>
                <a:rPr lang="id-ID" sz="1000">
                  <a:solidFill>
                    <a:schemeClr val="tx1"/>
                  </a:solidFill>
                  <a:latin typeface="Poppins Light"/>
                  <a:ea typeface="Poppins Light"/>
                  <a:cs typeface="Poppins Light"/>
                </a:rPr>
                <a:t>www.</a:t>
              </a:r>
              <a:r>
                <a:rPr lang="en-US" sz="1000">
                  <a:solidFill>
                    <a:schemeClr val="tx1"/>
                  </a:solidFill>
                  <a:latin typeface="Poppins Light"/>
                  <a:ea typeface="Poppins Light"/>
                  <a:cs typeface="Poppins Light"/>
                </a:rPr>
                <a:t>lider</a:t>
              </a:r>
              <a:r>
                <a:rPr lang="id-ID" sz="1000">
                  <a:solidFill>
                    <a:schemeClr val="tx1"/>
                  </a:solidFill>
                  <a:latin typeface="Poppins Light"/>
                  <a:ea typeface="Poppins Light"/>
                  <a:cs typeface="Poppins Light"/>
                </a:rPr>
                <a:t>.com</a:t>
              </a:r>
              <a:endParaRPr/>
            </a:p>
          </p:txBody>
        </p:sp>
        <p:sp>
          <p:nvSpPr>
            <p:cNvPr id="34" name="Freeform 29"/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 fill="norm" stroke="1" extrusionOk="0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id-ID">
                <a:latin typeface="Lato Light"/>
              </a:endParaRPr>
            </a:p>
          </p:txBody>
        </p:sp>
      </p:grpSp>
      <p:sp>
        <p:nvSpPr>
          <p:cNvPr id="802791967" name="Номер слайда 6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12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323157208" name="Текст 2"/>
          <p:cNvSpPr>
            <a:spLocks noGrp="1"/>
          </p:cNvSpPr>
          <p:nvPr>
            <p:ph type="body" sz="quarter" idx="15"/>
          </p:nvPr>
        </p:nvSpPr>
        <p:spPr bwMode="auto"/>
        <p:txBody>
          <a:bodyPr/>
          <a:lstStyle/>
          <a:p>
            <a:pPr marL="0" indent="0">
              <a:buNone/>
              <a:defRPr/>
            </a:pPr>
            <a:r>
              <a:rPr lang="ru-RU" b="1">
                <a:solidFill>
                  <a:schemeClr val="tx1"/>
                </a:solidFill>
              </a:rPr>
              <a:t>Фронт Парето и график вылетов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Каждая точка — недоминируемый план: левее быстрее, ниже меньше налёт. Щелчок открывает план на карте.</a:t>
            </a:r>
          </a:p>
        </p:txBody>
      </p:sp>
      <p:sp>
        <p:nvSpPr>
          <p:cNvPr id="1172478958" name="Текст 3"/>
          <p:cNvSpPr>
            <a:spLocks noGrp="1"/>
          </p:cNvSpPr>
          <p:nvPr>
            <p:ph type="body" sz="quarter" idx="16"/>
          </p:nvPr>
        </p:nvSpPr>
        <p:spPr bwMode="auto"/>
        <p:txBody>
          <a:bodyPr/>
          <a:lstStyle/>
          <a:p>
            <a:pPr marL="0" indent="0">
              <a:buNone/>
              <a:defRPr/>
            </a:pPr>
            <a:r>
              <a:rPr lang="ru-RU" b="1">
                <a:solidFill>
                  <a:schemeClr val="tx1"/>
                </a:solidFill>
              </a:rPr>
              <a:t>110 км², 5 бортов, 2 ВПП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Самолёты берут дальние участки, коптеры работают у своих баз в пределах радиуса действия.</a:t>
            </a:r>
          </a:p>
        </p:txBody>
      </p:sp>
      <p:pic>
        <p:nvPicPr>
          <p:cNvPr id="299969931" name="Рисунок 4" descr="Интерфейс: фронт Парето, показатели плана и маршруты на карте"/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 t="115" b="115"/>
          <a:stretch>
            <a:fillRect/>
          </a:stretch>
        </p:blipFill>
        <p:spPr>
          <a:xfrm>
            <a:off x="1210642" y="1577998"/>
            <a:ext cx="4121688" cy="2283975"/>
          </a:xfrm>
        </p:spPr>
      </p:pic>
      <p:pic>
        <p:nvPicPr>
          <p:cNvPr id="2082618591" name="Рисунок 5" descr="Интерфейс: план для 110 км² с пятью бортами и двумя ВПП"/>
          <p:cNvPicPr>
            <a:picLocks noGrp="1" noChangeAspect="1"/>
          </p:cNvPicPr>
          <p:nvPr>
            <p:ph type="pic" sz="quarter" idx="18"/>
          </p:nvPr>
        </p:nvPicPr>
        <p:blipFill>
          <a:blip r:embed="rId5"/>
          <a:srcRect t="115" b="115"/>
          <a:stretch>
            <a:fillRect/>
          </a:stretch>
        </p:blipFill>
        <p:spPr>
          <a:xfrm>
            <a:off x="6855540" y="1577998"/>
            <a:ext cx="4121688" cy="2283975"/>
          </a:xfrm>
        </p:spPr>
      </p:pic>
      <p:sp>
        <p:nvSpPr>
          <p:cNvPr id="945930100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ИНТЕРФЕЙС</a:t>
            </a: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onlyoffice/9.2.1.1</Application>
  <PresentationFormat>On-screen Show (4:3)</PresentationFormat>
  <Paragraphs>0</Paragraphs>
  <Slides>37</Slides>
  <Notes>37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38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Аноним</cp:lastModifiedBy>
  <cp:revision>96</cp:revision>
  <dcterms:created xsi:type="dcterms:W3CDTF">2023-05-15T07:36:23Z</dcterms:created>
  <dcterms:modified xsi:type="dcterms:W3CDTF">2026-09-18T09:14:14Z</dcterms:modified>
</cp:coreProperties>
</file>