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79" r:id="rId27"/>
    <p:sldId id="280" r:id="rId28"/>
    <p:sldId id="269" r:id="rId17"/>
    <p:sldId id="268" r:id="rId16"/>
    <p:sldId id="271" r:id="rId19"/>
    <p:sldId id="276" r:id="rId24"/>
    <p:sldId id="262" r:id="rId10"/>
    <p:sldId id="263" r:id="rId11"/>
    <p:sldId id="264" r:id="rId12"/>
    <p:sldId id="265" r:id="rId13"/>
    <p:sldId id="266" r:id="rId14"/>
    <p:sldId id="282" r:id="rId30"/>
    <p:sldId id="274" r:id="rId22"/>
    <p:sldId id="277" r:id="rId25"/>
    <p:sldId id="275" r:id="rId23"/>
    <p:sldId id="273" r:id="rId21"/>
    <p:sldId id="270" r:id="rId18"/>
    <p:sldId id="272" r:id="rId20"/>
    <p:sldId id="267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30" Type="http://schemas.openxmlformats.org/officeDocument/2006/relationships/slide" Target="slides/slide27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688"/>
          <c:y val="0.126935"/>
          <c:w val="0.926086"/>
          <c:h val="0.6674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Один лучший борт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1.43</c:v>
                </c:pt>
                <c:pt idx="1">
                  <c:v>2.08</c:v>
                </c:pt>
                <c:pt idx="2">
                  <c:v>1.91</c:v>
                </c:pt>
                <c:pt idx="3">
                  <c:v>1.07</c:v>
                </c:pt>
                <c:pt idx="4">
                  <c:v>2.07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Оператор: доли ∝ производительности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6 км², 4 борта</c:v>
                </c:pt>
                <c:pt idx="1">
                  <c:v>Геофизика</c:v>
                </c:pt>
                <c:pt idx="2">
                  <c:v>LiDAR</c:v>
                </c:pt>
                <c:pt idx="3">
                  <c:v>Ветер 11 м/с</c:v>
                </c:pt>
                <c:pt idx="4">
                  <c:v>110 км²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1.05</c:v>
                </c:pt>
                <c:pt idx="2">
                  <c:v>0.99</c:v>
                </c:pt>
                <c:pt idx="3">
                  <c:v>1.05</c:v>
                </c:pt>
                <c:pt idx="4">
                  <c:v>1.02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bg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0.030341"/>
          <c:y val="0.938201"/>
          <c:w val="0.947401"/>
          <c:h val="0.061799"/>
        </c:manualLayout>
      </c:layout>
      <c:overlay val="0"/>
      <c:spPr bwMode="auto"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lang val="ru-RU"/>
  <c:roundedCorners val="0"/>
  <mc:AlternateContent>
    <mc:Choice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5"/>
          <c:w val="0.864242"/>
          <c:h val="0.667471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Время расчёта, с (8 бортов)</c:v>
                </c:pt>
              </c:strCache>
            </c:strRef>
          </c:tx>
          <c:spPr bwMode="auto"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</c:dPt>
          <c:cat>
            <c:strRef>
              <c:f>Sheet1!$A$2:$A$6</c:f>
              <c:strCache>
                <c:ptCount val="5"/>
                <c:pt idx="0">
                  <c:v>400 км²</c:v>
                </c:pt>
                <c:pt idx="1">
                  <c:v>144 км²</c:v>
                </c:pt>
                <c:pt idx="2">
                  <c:v>64 км²</c:v>
                </c:pt>
                <c:pt idx="3">
                  <c:v>16 км²</c:v>
                </c:pt>
                <c:pt idx="4">
                  <c:v>4 км²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16.6</c:v>
                </c:pt>
                <c:pt idx="1">
                  <c:v>2.0</c:v>
                </c:pt>
                <c:pt idx="2">
                  <c:v>1.7</c:v>
                </c:pt>
                <c:pt idx="3">
                  <c:v>7.3</c:v>
                </c:pt>
                <c:pt idx="4">
                  <c:v>5.0</c:v>
                </c:pt>
              </c:numCache>
            </c:numRef>
          </c:val>
        </c:ser>
        <c:dLbls>
          <c:showBubbleSize val="0"/>
          <c:showCatName val="0"/>
          <c:showLeaderLines val="0"/>
          <c:showLegendKey val="0"/>
          <c:showPercent val="0"/>
          <c:showSerName val="0"/>
          <c:showVal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>
                <a:solidFill>
                  <a:schemeClr val="tx1"/>
                </a:solidFill>
                <a:latin typeface="Montserrat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 rot="0">
      <a:off x="346075" y="1424510"/>
      <a:ext cx="5749925" cy="4401748"/>
    </a:xfrm>
    <a:prstGeom prst="rect">
      <a:avLst/>
    </a:prstGeom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1">
    <c:autoUpdate val="1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  <cs:dataPointMarkerLayout symbol="circle" size="5"/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10178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85097713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2135623610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95844837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1856204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626093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Представить команду и задачу: сервис, который распределяет авиационные работы между бортами парка Геоскан и строит каждому полётное задание.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1B1709-5DF9-CE8B-0D80-8745F926D7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в двух фразах. Поля в квадратных скобках заполнить данными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23F6AF-8853-C780-7376-4883F15C75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05491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4731758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Заполнить карточки участников; лишние карточки удалить вместе с рамкой и фото.</a:t>
            </a:r>
          </a:p>
        </p:txBody>
      </p:sp>
      <p:sp>
        <p:nvSpPr>
          <p:cNvPr id="23928911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535572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994709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Первый блок — история команды, заполнить. Сложности — реальные, из разработки.</a:t>
            </a:r>
          </a:p>
        </p:txBody>
      </p:sp>
      <p:sp>
        <p:nvSpPr>
          <p:cNvPr id="211013245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и прикладная суть. Цифры — из docs/benchmark.md (30 случайных сценариев).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D26D26-150F-1601-6C86-E64DD6FC3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295630-3AF7-5BF1-E34C-ACD190C2EB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Данные из чата задачи (22–23.09). Формат — docs/data_formats.md, сценарий moscow_real.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19A5BB-B292-E329-E934-2CB71EB1F2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97750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19849954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Показать живое демо: сценарий demo_basic → «Рассчитать план» → «Сравнить варианты».</a:t>
            </a:r>
          </a:p>
        </p:txBody>
      </p:sp>
      <p:sp>
        <p:nvSpPr>
          <p:cNvPr id="1789881963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A13F91-E62E-B99F-C54D-D2D8B7BE6D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Источники: Choset 2000, Huang 2001, Coombes 2017, Dubins 1957, Lozano-Pérez 1979, Beasley 1983, Maza &amp; Ollero 2007, DARP 2017, Mavrotas 2009 — docs/algorithm.md.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9DC001-179D-2539-A791-0D4521E23FE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1380DB-6083-FD50-4C3F-2BA69E6842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B3BBE7-F228-6DAE-D5FF-8C62F6E91F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Сверху справа — магнитная съёмка (секущие маршруты пунктиром), ниже — LiDAR, слева — 110 км².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2747C7-A1D5-9EB8-332B-A2E7137066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2B22DF-35AC-1BF6-F6A5-EE2C68E04B4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Диаграмма: во сколько раз дольше работы при базовых подходах, чем по нашему плану (=1). Все подходы считает одна модель полёта, отличается только распределение работы. Данные — docs/benchmark.md, воспроизводится python bench/benchmark.py.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3CFF08-323F-D057-3D49-9CCCB58651F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Диаграмма — время расчёта, секунды, парк из 8 бортов (201 и Gemini поровну). Планировщик занимает одно ядро; пул процессов нужен фронту Парето и советнику.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2BFEF3-99C6-0050-A88B-8DAB2274D3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F0089-4AAB-ABF9-9667-9C54CDA89C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CD50722-510C-DA7E-4B19-3B7ED33ABF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B0AF51-E3D1-937D-7F90-A91115B4C80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630666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14161200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780567976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49461198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9531442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42204295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6809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18.09.2026</a:t>
            </a:fld>
            <a:endParaRPr lang="ru-RU"/>
          </a:p>
        </p:txBody>
      </p:sp>
      <p:sp>
        <p:nvSpPr>
          <p:cNvPr id="213670545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9645699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9277275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2041206886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952672101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93192543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43537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3028029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73367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18.09.2026</a:t>
            </a:fld>
            <a:endParaRPr lang="ru-RU"/>
          </a:p>
        </p:txBody>
      </p:sp>
      <p:sp>
        <p:nvSpPr>
          <p:cNvPr id="202779636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97802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833968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675470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18.09.2026</a:t>
            </a:fld>
            <a:endParaRPr lang="ru-RU"/>
          </a:p>
        </p:txBody>
      </p:sp>
      <p:sp>
        <p:nvSpPr>
          <p:cNvPr id="9450507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3948761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945174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622833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977010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762051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18.09.2026</a:t>
            </a:fld>
            <a:endParaRPr lang="ru-RU"/>
          </a:p>
        </p:txBody>
      </p:sp>
      <p:sp>
        <p:nvSpPr>
          <p:cNvPr id="7119919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7019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7883871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35881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1969558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707843199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5748073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26126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18.09.2026</a:t>
            </a:fld>
            <a:endParaRPr lang="ru-RU"/>
          </a:p>
        </p:txBody>
      </p:sp>
      <p:sp>
        <p:nvSpPr>
          <p:cNvPr id="1692687120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6553507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7196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24600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18.09.2026</a:t>
            </a:fld>
            <a:endParaRPr lang="ru-RU"/>
          </a:p>
        </p:txBody>
      </p:sp>
      <p:sp>
        <p:nvSpPr>
          <p:cNvPr id="112345031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313743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083343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524777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86376593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8421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18.09.2026</a:t>
            </a:fld>
            <a:endParaRPr lang="ru-RU"/>
          </a:p>
        </p:txBody>
      </p:sp>
      <p:sp>
        <p:nvSpPr>
          <p:cNvPr id="8287487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3844057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233802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18.09.2026</a:t>
            </a:fld>
            <a:endParaRPr lang="ru-RU"/>
          </a:p>
        </p:txBody>
      </p:sp>
      <p:sp>
        <p:nvSpPr>
          <p:cNvPr id="139869319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09491967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270924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90405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18.09.2026</a:t>
            </a:fld>
            <a:endParaRPr lang="ru-RU"/>
          </a:p>
        </p:txBody>
      </p:sp>
      <p:sp>
        <p:nvSpPr>
          <p:cNvPr id="8595318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711768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65513835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25427872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824042867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0356032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648971304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855131671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48147020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7356032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1969089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856529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031920686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392612826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137583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41501527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113302968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630331325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1264559755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078365953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21611495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722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18.09.2026</a:t>
            </a:fld>
            <a:endParaRPr lang="ru-RU"/>
          </a:p>
        </p:txBody>
      </p:sp>
      <p:sp>
        <p:nvSpPr>
          <p:cNvPr id="1565444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987335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68870650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71256372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97344242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05033385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0449776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638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18.09.2026</a:t>
            </a:fld>
            <a:endParaRPr lang="ru-RU"/>
          </a:p>
        </p:txBody>
      </p:sp>
      <p:sp>
        <p:nvSpPr>
          <p:cNvPr id="50275569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29408551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3174694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703027372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3078764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95212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0812223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299664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5600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18.09.2026</a:t>
            </a:fld>
            <a:endParaRPr lang="ru-RU"/>
          </a:p>
        </p:txBody>
      </p:sp>
      <p:sp>
        <p:nvSpPr>
          <p:cNvPr id="161969147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1695514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44974868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330031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6630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4085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73757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2490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672600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460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18.09.2026</a:t>
            </a:fld>
            <a:endParaRPr lang="ru-RU"/>
          </a:p>
        </p:txBody>
      </p:sp>
      <p:sp>
        <p:nvSpPr>
          <p:cNvPr id="8137768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6355104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71336608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562738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400214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56310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6852734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874651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575599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20888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88458935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17161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18.09.2026</a:t>
            </a:fld>
            <a:endParaRPr lang="ru-RU"/>
          </a:p>
        </p:txBody>
      </p:sp>
      <p:sp>
        <p:nvSpPr>
          <p:cNvPr id="25115632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4662954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0248127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9857875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380552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352568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756705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6318926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5282000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499405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4630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86516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18.09.2026</a:t>
            </a:fld>
            <a:endParaRPr lang="ru-RU"/>
          </a:p>
        </p:txBody>
      </p:sp>
      <p:sp>
        <p:nvSpPr>
          <p:cNvPr id="7631659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205621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872673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4895721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050265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9718742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0720677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8441431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52511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1584553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907909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41641074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44384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30670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18.09.2026</a:t>
            </a:fld>
            <a:endParaRPr lang="ru-RU"/>
          </a:p>
        </p:txBody>
      </p:sp>
      <p:sp>
        <p:nvSpPr>
          <p:cNvPr id="19554219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651488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357587124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205115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03273118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38154443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481788527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750357126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26072409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60725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31025141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18.09.2026</a:t>
            </a:fld>
            <a:endParaRPr lang="ru-RU"/>
          </a:p>
        </p:txBody>
      </p:sp>
      <p:sp>
        <p:nvSpPr>
          <p:cNvPr id="13562772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8410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7416539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485519227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9875110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4365991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3584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18.09.2026</a:t>
            </a:fld>
            <a:endParaRPr lang="ru-RU"/>
          </a:p>
        </p:txBody>
      </p:sp>
      <p:sp>
        <p:nvSpPr>
          <p:cNvPr id="13354826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2267710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7805692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1553788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442143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275080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735030724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49844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4128466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196629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2479884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0223379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38284080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198411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489744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243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80275615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2128071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8358551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750783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579447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95171051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1599058022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7396754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9948393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67992940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774414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9790193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479963981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18.09.2026</a:t>
            </a:fld>
            <a:endParaRPr lang="ru-RU"/>
          </a:p>
        </p:txBody>
      </p:sp>
      <p:sp>
        <p:nvSpPr>
          <p:cNvPr id="12173661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4774428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02937123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041874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90913832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3939887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489599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0477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213191465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893328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18.09.2026</a:t>
            </a:fld>
            <a:endParaRPr lang="ru-RU"/>
          </a:p>
        </p:txBody>
      </p:sp>
      <p:sp>
        <p:nvSpPr>
          <p:cNvPr id="20922675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605129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916072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[НАЗВАНИЕ КОМАНДЫ]</a:t>
            </a:r>
            <a:endParaRPr lang="ru-RU" sz="4800"/>
          </a:p>
        </p:txBody>
      </p:sp>
      <p:sp>
        <p:nvSpPr>
          <p:cNvPr id="48869008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rPr lang="ru-RU"/>
              <a:t>Задача 5. Сервис планирования и распределения беспилотных авиационных работ</a:t>
            </a:r>
            <a:endParaRPr lang="ru-RU"/>
          </a:p>
        </p:txBody>
      </p:sp>
      <p:sp>
        <p:nvSpPr>
          <p:cNvPr id="1242083511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2098916073" name="Picture 2098916072" descr="Логотип GEOSC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614632"/>
            <a:ext cx="3108960" cy="5129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921817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686966749" name="Рисунок 1" descr="Интерфейс сервиса: фронт Парето, график вылетов и маршруты четырёх бортов на карте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75914866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66800462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Geoscan Planner, Mission Planner и QGroundControl планируют один борт. Мы распределяем работу по разнородному парку и даём выбрать компромисс «время работ — налёт».</a:t>
            </a:r>
            <a:endParaRPr/>
          </a:p>
        </p:txBody>
      </p:sp>
      <p:sp>
        <p:nvSpPr>
          <p:cNvPr id="1096675426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Участников: [N]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Как образовалась команда: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Место работы / учёбы: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[заполнить]</a:t>
            </a:r>
          </a:p>
        </p:txBody>
      </p:sp>
      <p:sp>
        <p:nvSpPr>
          <p:cNvPr id="1244160651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135680501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[НАЗВАНИЕ КОМАНДЫ]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634387374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3128962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70285971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82530481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481293215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Веб-сервис делит область съёмки между бортами парка Геоскан и строит каждому полётное задание: галсы, развороты, вылеты по заряду, обход запретных зон, ветер и рельеф. Экспорт — KML и GeoJSON.</a:t>
            </a:r>
            <a:endParaRPr/>
          </a:p>
        </p:txBody>
      </p:sp>
      <p:sp>
        <p:nvSpPr>
          <p:cNvPr id="805103687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ru-RU" sz="1200">
                <a:solidFill>
                  <a:schemeClr val="accent5"/>
                </a:solidFill>
              </a:rPr>
              <a:t>8</a:t>
            </a:r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6153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1455521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8685589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63811239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16710643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054469056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251960252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4876517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2116286745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1314593988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05529467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342575697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  <p:sp>
        <p:nvSpPr>
          <p:cNvPr id="213781207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97366316" name="Скругленный прямоугольник 12"/>
          <p:cNvSpPr/>
          <p:nvPr/>
        </p:nvSpPr>
        <p:spPr bwMode="auto">
          <a:xfrm>
            <a:off x="346075" y="324562"/>
            <a:ext cx="331927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8879490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9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6069962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486636947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957925855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15829322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212903737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022219245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СОСТАВ КОМАНДЫ</a:t>
            </a:r>
            <a:endParaRPr lang="ru-RU">
              <a:latin typeface="Montserrat"/>
            </a:endParaRPr>
          </a:p>
        </p:txBody>
      </p:sp>
      <p:sp>
        <p:nvSpPr>
          <p:cNvPr id="972760199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[Telegram]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</a:p>
        </p:txBody>
      </p:sp>
      <p:sp>
        <p:nvSpPr>
          <p:cNvPr id="1270630445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59416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93210227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10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247762359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КАК МЫ РАБОТАЛИ</a:t>
            </a:r>
            <a:endParaRPr lang="ru-RU">
              <a:latin typeface="Montserrat"/>
            </a:endParaRPr>
          </a:p>
        </p:txBody>
      </p:sp>
      <p:sp>
        <p:nvSpPr>
          <p:cNvPr id="1906406580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[Как собрались, участвовали ли вместе в хакатонах — заполнить]</a:t>
            </a:r>
            <a:endParaRPr/>
          </a:p>
        </p:txBody>
      </p:sp>
      <p:sp>
        <p:nvSpPr>
          <p:cNvPr id="1671155865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175495209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Самолёту негде развернуться у запретной зоны — оставили запас на петлю и отдали эти полосы мультироторам. На 110 км² коптеры не долетали до своих полос — добавили разбиение с учётом дальности. Бенчмарк показал проигрыш равному делению — добавили мультистарт.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316898902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582960992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 борт давно умеют планировать Geoscan Planner и Mission Planner. Распределять работу по разнородному парку с учётом заряда и ветра — нет. Это настоящая задача оптимизации.</a:t>
            </a:r>
            <a:endParaRPr/>
          </a:p>
        </p:txBody>
      </p:sp>
      <p:sp>
        <p:nvSpPr>
          <p:cNvPr id="2026061691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46579141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290821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80331046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39372331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232035627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518437582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8022" name="Скругленный прямоугольник 9"/>
          <p:cNvSpPr/>
          <p:nvPr/>
        </p:nvSpPr>
        <p:spPr bwMode="auto">
          <a:xfrm>
            <a:off x="346075" y="324562"/>
            <a:ext cx="39090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84129133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8761099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168838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11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7229410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Ядро на Python рассчитывает параметры съёмки по ТТХ бортов, строит галсы с учётом ветра, развороты по Дубинсу, обходит запретные зоны и высотные препятствия, режет маршрут на вылеты по заряду и делит область между бортами.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Читает данные заказчика: зоны ограничений с диапазоном высот и временем действия, высотные препятствия, задание на съёмку. Два критерия и фронт Парето, рельеф Copernicus DEM, советник по срокам. Веб-интерфейс на React + Leaflet, один Docker-контейнер, ключи не нужны.</a:t>
            </a:r>
          </a:p>
        </p:txBody>
      </p:sp>
      <p:sp>
        <p:nvSpPr>
          <p:cNvPr id="39508272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Операторы парков БВС в геодезии, мониторинге инфраструктуры, агро и геофизике: вместо ручной нарезки области на несколько бортов — готовые задания за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Быстрее получить данные: на случайном наборе из 30 сценариев план в 1,33 раза быстрее ручного деления оператором и выигрывает в 93 % сравнимых случаев.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Отвечает на вопросы заказчика: уложимся ли в срок, сколько бортов для этого нужно и сколько ресурса до ТО израсходует каждый борт.</a:t>
            </a:r>
          </a:p>
        </p:txBody>
      </p:sp>
      <p:sp>
        <p:nvSpPr>
          <p:cNvPr id="204615649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60168285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</a:t>
            </a:r>
            <a:endParaRPr/>
          </a:p>
        </p:txBody>
      </p:sp>
      <p:sp>
        <p:nvSpPr>
          <p:cNvPr id="17788557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Для кого и зачем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927728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8901403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Запуск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docker compose up --build → http://127.0.0.1:8000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Код и документация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[ссылка на репозиторий]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README, docs/: архитектура, алгоритм, API, руководство, ограничения, бенчмарк</a:t>
            </a:r>
          </a:p>
          <a:p>
            <a:pPr marL="0" indent="0">
              <a:spcBef>
                <a:spcPts val="10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Контакты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[капитан, Telegram]</a:t>
            </a:r>
          </a:p>
        </p:txBody>
      </p:sp>
      <p:sp>
        <p:nvSpPr>
          <p:cNvPr id="633781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19</a:t>
            </a:r>
            <a:endParaRPr lang="ru-RU"/>
          </a:p>
        </p:txBody>
      </p:sp>
      <p:sp>
        <p:nvSpPr>
          <p:cNvPr id="2141868403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СПАСИБО!</a:t>
            </a:r>
            <a:endParaRPr lang="ru-RU"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6171791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6878209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4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94508892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/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ДАННЫЕ ЗАКАЗЧИКА</a:t>
            </a:r>
            <a:endParaRPr lang="ru-RU" sz="3600">
              <a:solidFill>
                <a:schemeClr val="bg1"/>
              </a:solidFill>
            </a:endParaRPr>
          </a:p>
        </p:txBody>
      </p:sp>
      <p:pic>
        <p:nvPicPr>
          <p:cNvPr id="1066171792" name="Picture 1066171791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754" y="1556279"/>
            <a:ext cx="7049886" cy="3745441"/>
          </a:xfrm>
          <a:prstGeom prst="rect">
            <a:avLst/>
          </a:prstGeom>
        </p:spPr>
      </p:pic>
      <p:sp>
        <p:nvSpPr>
          <p:cNvPr id="1066171793" name="TextBox 1066171792"/>
          <p:cNvSpPr txBox="1"/>
          <p:nvPr/>
        </p:nvSpPr>
        <p:spPr>
          <a:xfrm>
            <a:off x="640080" y="52578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b="1" sz="1600">
                <a:solidFill>
                  <a:srgbClr val="2A1B4A"/>
                </a:solidFill>
              </a:rPr>
              <a:t>341 зона ограничений, 5162 препятствия, 696 участков задания — из файлов заказчика</a:t>
            </a:r>
          </a:p>
          <a:p>
            <a:pPr marL="0" indent="0">
              <a:buNone/>
            </a:pPr>
            <a:r>
              <a:rPr sz="1300">
                <a:solidFill>
                  <a:srgbClr val="2A1B4A"/>
                </a:solidFill>
              </a:rPr>
              <a:t>Высоты зон записаны текстом («От земли до 500 м (1700 фут) AMSL», «От FL280 до FL400»), времени действия нет: мы предложили формат и разбираем эти записи. Зона режет область, только если её высоты пересекаются с высотами работ; препятствие выше высоты съёмки сервис облетает.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230298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680785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3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680390965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ДЕМО: 4 БОРТА, 6,3 КМ²</a:t>
            </a:r>
            <a:endParaRPr lang="ru-RU" sz="2000">
              <a:solidFill>
                <a:schemeClr val="accent5"/>
              </a:solidFill>
            </a:endParaRPr>
          </a:p>
        </p:txBody>
      </p:sp>
      <p:pic>
        <p:nvPicPr>
          <p:cNvPr id="776835691" name="Рисунок 3" descr="Маршруты четырёх бортов вокруг запретной зоны в демо-сценари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42" r="42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985373069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Сценарий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Геоскан 201, два Gemini и 801, две ВПП, запретная зона в центре, ветер 5 м/с, RGB 3 см/пикс.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Что сделал сервис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снимает основную часть длинными галсами с петлями на разворотах. Кольцо вокруг запретной зоны, где самолёту не развернуться, забрал Геоскан 801.</a:t>
            </a:r>
          </a:p>
          <a:p>
            <a:pPr marL="0" indent="0">
              <a:spcBef>
                <a:spcPts val="800"/>
              </a:spcBef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Итог</a:t>
            </a: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Все работы за 58 мин, покрытие 100 %, ни одного пересечения запретной зоны. Один лучший борт потратил бы 83 мин и оставил бы неснятыми 4 % у запретной зоны.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1773812" name="Заголовок 5"/>
          <p:cNvSpPr>
            <a:spLocks noGrp="1"/>
          </p:cNvSpPr>
          <p:nvPr>
            <p:ph type="title"/>
          </p:nvPr>
        </p:nvSpPr>
        <p:spPr bwMode="auto">
          <a:xfrm>
            <a:off x="533490" y="370426"/>
            <a:ext cx="5562510" cy="442374"/>
          </a:xfrm>
        </p:spPr>
        <p:txBody>
          <a:bodyPr/>
          <a:lstStyle/>
          <a:p>
            <a:pPr>
              <a:defRPr/>
            </a:pPr>
            <a:r>
              <a:rPr lang="ru-RU" sz="2000">
                <a:solidFill>
                  <a:schemeClr val="accent5"/>
                </a:solidFill>
              </a:rPr>
              <a:t>ДОПУЩЕНИЯ И ОГРАНИЧЕНИЯ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220624811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Часть ТТХ задана командой (АКБ 801, крейсерская скорость 201, смена АКБ) — помечены в датасете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0050484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Энергия — по паспортной продолжительности с резервом и поправкой на ветер, без телеметрии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78120020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Ветер постоянный по области; развороты самолёта без учёта сноса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25509603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Время действия зон в данных заказчика отсутствует: формат готов, окно задаёт пользователь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450800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11155680" cy="712587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Оптимизация эвристическая: хороший план за секунды, глобальный оптимум не гарантирован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3827626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17</a:t>
            </a:r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02163193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45437143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10989343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01262306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1742554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719291" name="Скругленный прямоугольник 9"/>
          <p:cNvSpPr/>
          <p:nvPr/>
        </p:nvSpPr>
        <p:spPr bwMode="auto">
          <a:xfrm>
            <a:off x="346075" y="324562"/>
            <a:ext cx="213969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43057752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6679565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76061303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1316948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0129984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5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78343227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Галсы и ветер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1173579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Направление галсов перебираем по рёбрам полигона и оцениваем по времени с учётом ветра. Дыры и вогнутости — клеточная декомпозиция boustrophedon.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6831928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Развороты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92444851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 — кратчайшие пути Дубинса, R = V²/(g·tg φ): при узком шаге получается петля, как в Geoscan Planner. Коптер — остановка и разгон.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9953732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Зоны, высоты, заряд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1559462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полоса высот пересекает высоты работ. Перелёты — по графу видимости вокруг зон и препятствий, маршрут режется на вылеты по заряду.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65283250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Парк и критерии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86716245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дальности, балансировка по факту, локальный поиск. Фронт Парето: взвешенная сумма и ε-ограничения.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89293309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АЛГОРИТМ</a:t>
            </a:r>
            <a:endParaRPr lang="ru-RU"/>
          </a:p>
        </p:txBody>
      </p:sp>
      <p:sp>
        <p:nvSpPr>
          <p:cNvPr id="95998924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91401211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2714254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7171830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787048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52719362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4666128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3727323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18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18945454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Точнее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666342276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Калибровка энергомодели по телеметрии, прогноз ветра по высотам, трохоидальные развороты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615763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Безопаснее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8698847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Автоматическое разведение бортов по высоте и времени, загрузка зон из официальных источников по расписанию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306959530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800">
                <a:solidFill>
                  <a:srgbClr val="F92571"/>
                </a:solidFill>
              </a:rPr>
              <a:t>Ближе к полёту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099933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Экспорт в формат Geoscan Planner и MAVLink, перепланирование по ходу работ, очередь ТО парка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11074207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ПЛАНЫ РАЗВИТИЯ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76952077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202513912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66692838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/>
          <a:lstStyle/>
          <a:p>
            <a:pPr>
              <a:defRPr/>
            </a:pPr>
            <a:r>
              <a:rPr lang="ru-RU" sz="4400" b="1">
                <a:solidFill>
                  <a:schemeClr val="accent5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314806" name="Скругленный прямоугольник 22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0271690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16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59348601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Ядро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68854950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Python 3.12: shapely, pyproj, networkx, numpy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80492310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API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5314496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FastAPI, OpenAPI-документация, pydantic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12479966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Интерфейс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41570954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React, TypeScript, Leaflet, OpenStreetMap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84031197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Данные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03603882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ТТХ в YAML, зоны и препятствия заказчика, рельеф Copernicus DEM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9414180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Экспорт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80237066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GeoJSON (RFC 7946), KML 2.2, ZIP по плану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91600374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rgbClr val="F92571"/>
                </a:solidFill>
              </a:rPr>
              <a:t>Качество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833588086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132 автотеста, честный бенчмарк, Docker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890977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АРХИТЕКТУРА И СТЕК</a:t>
            </a:r>
            <a:endParaRPr lang="ru-RU"/>
          </a:p>
        </p:txBody>
      </p:sp>
      <p:sp>
        <p:nvSpPr>
          <p:cNvPr id="326858125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8003807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57508628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19827210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45280951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78426587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/>
          <a:lstStyle/>
          <a:p>
            <a:pPr>
              <a:defRPr/>
            </a:pPr>
            <a:r>
              <a:rPr lang="ru-RU" b="1">
                <a:solidFill>
                  <a:schemeClr val="accent5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506719" name="Скругленный прямоугольник 1"/>
          <p:cNvSpPr/>
          <p:nvPr/>
        </p:nvSpPr>
        <p:spPr bwMode="auto">
          <a:xfrm>
            <a:off x="346075" y="324562"/>
            <a:ext cx="351586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4664750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13</a:t>
            </a:r>
            <a:endParaRPr lang="ru-RU">
              <a:solidFill>
                <a:schemeClr val="accent5"/>
              </a:solidFill>
            </a:endParaRPr>
          </a:p>
        </p:txBody>
      </p:sp>
      <p:pic>
        <p:nvPicPr>
          <p:cNvPr id="1946121707" name="Рисунок 2" descr="Магнитная съёмка двумя Геоскан 401 с секущими маршрутами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62" b="62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1512573901" name="Рисунок 3" descr="LiDAR-съёмка двумя Геоскан 401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71" r="71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2109437233" name="Рисунок 4" descr="Разбиение 110 км² между самолётами и мультироторами с учётом дальности"/>
          <p:cNvPicPr>
            <a:picLocks noGrp="1" noChangeAspect="1"/>
          </p:cNvPicPr>
          <p:nvPr>
            <p:ph type="pic" sz="quarter" idx="12"/>
          </p:nvPr>
        </p:nvPicPr>
        <p:blipFill>
          <a:blip r:embed="rId6"/>
          <a:srcRect t="76" b="76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1100381646" name="Текст 5"/>
          <p:cNvSpPr>
            <a:spLocks noGrp="1"/>
          </p:cNvSpPr>
          <p:nvPr>
            <p:ph type="body" sz="quarter" idx="14"/>
          </p:nvPr>
        </p:nvSpPr>
        <p:spPr bwMode="auto"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RGB, мультиспектр, ИК — по GSD и перекрытиям; LiDAR — по плотности точек; геофизика — малая высота, огибание рельефа и секущие маршруты.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Для LiDAR и геофизики в датасет добавлен Геоскан 401 (ТТХ из его руководства): в приложении к ТЗ таких нагрузок нет.</a:t>
            </a:r>
          </a:p>
        </p:txBody>
      </p:sp>
      <p:sp>
        <p:nvSpPr>
          <p:cNvPr id="32275407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7315200" cy="376138"/>
          </a:xfrm>
        </p:spPr>
        <p:txBody>
          <a:bodyPr/>
          <a:lstStyle/>
          <a:p>
            <a:pPr>
              <a:defRPr/>
            </a:pPr>
            <a:r>
              <a:rPr lang="ru-RU"/>
              <a:t>ВСЕ ТИПЫ СЪЁМКИ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404609" name="Скругленный прямоугольник 1"/>
          <p:cNvSpPr/>
          <p:nvPr/>
        </p:nvSpPr>
        <p:spPr bwMode="auto">
          <a:xfrm>
            <a:off x="346075" y="324562"/>
            <a:ext cx="292608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3267392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05028026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682058439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264458047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856646513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138244014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2888461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defRPr/>
            </a:pPr>
            <a:r>
              <a:rPr lang="ru-RU" sz="2400" b="1">
                <a:solidFill>
                  <a:schemeClr val="tx1"/>
                </a:solidFill>
              </a:rPr>
              <a:t>Диспетчер парка, а не планировщик одного борта</a:t>
            </a:r>
            <a:endParaRPr lang="ru-RU" sz="3600" b="1">
              <a:solidFill>
                <a:schemeClr val="tx1"/>
              </a:solidFill>
            </a:endParaRPr>
          </a:p>
          <a:p>
            <a:pPr algn="l" marL="0" indent="0">
              <a:spcBef>
                <a:spcPts val="1400"/>
              </a:spcBef>
              <a:buNone/>
              <a:defRPr/>
            </a:pPr>
            <a:r>
              <a:rPr lang="ru-RU" sz="1800" b="1">
                <a:solidFill>
                  <a:schemeClr val="tx1"/>
                </a:solidFill>
              </a:rPr>
              <a:t>Существующие программы строят задание одному аппарату. Сервис решает, кто что снимает, с какой базы и за сколько вылетов, и показывает цену выбора между скоростью и налётом.</a:t>
            </a:r>
          </a:p>
        </p:txBody>
      </p:sp>
      <p:sp>
        <p:nvSpPr>
          <p:cNvPr id="792620368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Физика полёта: ветер, развороты самолёта, заряд, смена АКБ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60448067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заказчика читаются как есть: высоты зон и препятствия из KML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99652688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Зона мешает, только если её высоты пересекаются с высотами работ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1792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Советник: сколько бортов нужно к сроку и сколько времени займут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41314687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Ресурс до ТО и потолок 150 м — по нормативам, а не «на глаз»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4119058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15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09672408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УНИКАЛЬНОСТЬ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985566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1679259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77037658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802965" name="Скругленный прямоугольник 1"/>
          <p:cNvSpPr/>
          <p:nvPr/>
        </p:nvSpPr>
        <p:spPr bwMode="auto">
          <a:xfrm>
            <a:off x="346075" y="324562"/>
            <a:ext cx="253288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2465394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6</a:t>
            </a:r>
            <a:endParaRPr lang="ru-RU"/>
          </a:p>
        </p:txBody>
      </p:sp>
      <p:sp>
        <p:nvSpPr>
          <p:cNvPr id="978850912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1,33×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882305830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ручного деления оператором — медиана 30 случайных сценариев, победа в 93 % случаев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95788791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1,81×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32952924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выигрыш по времени работ против одного лучшего борта (медиана)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10159186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400">
                <a:solidFill>
                  <a:schemeClr val="tx1"/>
                </a:solidFill>
              </a:rPr>
              <a:t>30 из 30</a:t>
            </a:r>
            <a:endParaRPr lang="ru-RU" b="0">
              <a:solidFill>
                <a:schemeClr val="tx1"/>
              </a:solidFill>
            </a:endParaRPr>
          </a:p>
        </p:txBody>
      </p:sp>
      <p:sp>
        <p:nvSpPr>
          <p:cNvPr id="1950394813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случайных сценариев сняты полностью (≥ 99,5 %); 0 пересечений запретных зон, 132 автотеста</a:t>
            </a:r>
            <a:endParaRPr lang="ru-RU">
              <a:solidFill>
                <a:schemeClr val="tx1"/>
              </a:solidFill>
            </a:endParaRPr>
          </a:p>
        </p:txBody>
      </p:sp>
      <p:graphicFrame>
        <p:nvGraphicFramePr>
          <p:cNvPr id="2419065" name="Диаграмма 9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2010858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2763648" cy="376138"/>
          </a:xfrm>
        </p:spPr>
        <p:txBody>
          <a:bodyPr/>
          <a:lstStyle/>
          <a:p>
            <a:pPr>
              <a:defRPr/>
            </a:pPr>
            <a:r>
              <a:rPr lang="ru-RU"/>
              <a:t>РЕЗУЛЬТАТЫ</a:t>
            </a:r>
            <a:endParaRPr lang="ru-RU"/>
          </a:p>
        </p:txBody>
      </p:sp>
      <p:sp>
        <p:nvSpPr>
          <p:cNvPr id="1950394814" name="TextBox 1950394813"/>
          <p:cNvSpPr txBox="1"/>
          <p:nvPr/>
        </p:nvSpPr>
        <p:spPr>
          <a:xfrm>
            <a:off x="530352" y="1143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Во сколько раз дольше идут работы при базовых подходах (наш план = 1)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478375" name="Скругленный прямоугольник 1"/>
          <p:cNvSpPr/>
          <p:nvPr/>
        </p:nvSpPr>
        <p:spPr bwMode="auto">
          <a:xfrm>
            <a:off x="346075" y="324562"/>
            <a:ext cx="371246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9364196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14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84306364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0,5–19 с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065376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расчёт плана для областей от 1 до 400 км² и парка до 16 бортов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153003913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400 км²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18671500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16 бортов — план за 13 с; 110 км², 5 бортов — за 5 с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726115762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Дальность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746240602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крупные области делятся с учётом радиуса действия каждого борта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0928423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 sz="2000">
                <a:solidFill>
                  <a:schemeClr val="accent5"/>
                </a:solidFill>
              </a:rPr>
              <a:t>Docker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698214148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accent5"/>
                </a:solidFill>
              </a:rPr>
              <a:t>один контейнер, без внешних ключей; рельеф вшит при сборке</a:t>
            </a:r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179244916" name="Диаграмма 11"/>
          <p:cNvGraphicFramePr>
            <a:graphicFrameLocks xmlns:a="http://schemas.openxmlformats.org/drawingml/2006/main"/>
          </p:cNvGraphicFramePr>
          <p:nvPr/>
        </p:nvGraphicFramePr>
        <p:xfrm rot="0"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11594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МАСШТАБИРУЕМОСТЬ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291432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61673137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062541317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762860665" name="Скругленный прямоугольник 1"/>
          <p:cNvSpPr/>
          <p:nvPr/>
        </p:nvSpPr>
        <p:spPr bwMode="auto">
          <a:xfrm>
            <a:off x="346075" y="324562"/>
            <a:ext cx="4105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5574251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49624372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79047827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98286871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Проблема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Парк из разных бортов: самолёт на 3 часа и коптеры на 40 минут. Делить область между ними вручную долго, результат далёк от оптимума, легко забыть про ветер и заряд.</a:t>
            </a:r>
          </a:p>
        </p:txBody>
      </p:sp>
      <p:sp>
        <p:nvSpPr>
          <p:cNvPr id="236283797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Решение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Сервис сам делит область по производительности и дальности бортов, строит галсы, развороты и вылеты, обходит запретные зоны и проверяет аварийный уход на площадки.</a:t>
            </a:r>
          </a:p>
        </p:txBody>
      </p:sp>
      <p:sp>
        <p:nvSpPr>
          <p:cNvPr id="134405288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Результат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Индивидуальные задания в KML и GeoJSON, выбор критерия «время работ» или «налёт», набор компромиссов между ними и ответ на вопрос «сколько бортов нужно к сроку». Расчёт — секунды.</a:t>
            </a:r>
          </a:p>
        </p:txBody>
      </p:sp>
      <p:cxnSp>
        <p:nvCxnSpPr>
          <p:cNvPr id="1312320421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1927020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fill="norm" stroke="1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fill="norm" stroke="1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fill="norm" stroke="1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fill="norm" stroke="1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fill="norm" stroke="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fill="norm" stroke="1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fill="norm" stroke="1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fill="norm" stroke="1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fill="norm" stroke="1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fill="norm" stroke="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6525649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fill="norm" stroke="1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fill="norm" stroke="1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fill="norm" stroke="1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fill="norm" stroke="1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fill="norm" stroke="1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fill="norm" stroke="1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fill="norm" stroke="1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96918281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fill="norm" stroke="1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fill="norm" stroke="1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fill="norm" stroke="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fill="norm" stroke="1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fill="norm" stroke="1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fill="norm" stroke="1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fill="norm" stroke="1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fill="norm" stroke="1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fill="norm" stroke="1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fill="norm" stroke="1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fill="norm" stroke="1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51786899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7432156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ПРОБЛЕМА И РЕШЕНИЕ</a:t>
            </a:r>
            <a:endParaRPr lang="ru-RU"/>
          </a:p>
        </p:txBody>
      </p:sp>
      <p:cxnSp>
        <p:nvCxnSpPr>
          <p:cNvPr id="114662454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281501" name="Скругленный прямоугольник 11"/>
          <p:cNvSpPr/>
          <p:nvPr/>
        </p:nvSpPr>
        <p:spPr bwMode="auto">
          <a:xfrm>
            <a:off x="346075" y="324562"/>
            <a:ext cx="430225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9427226" name="Номер слайда 1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2822217" name="Текст 1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Исходные данные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139784553" name="Текст 2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Область, зоны ограничений и высотные препятствия из данных заказчика, ВПП, парк, тип съёмки, ветер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29232669" name="Текст 3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Параметры съёмки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265276705" name="Текст 4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Высота, полоса, шаг галсов и скорость из GSD, плотности LiDAR или шага геофизики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21413253" name="Текст 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Распределение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368271957" name="Текст 6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Доли области по производительности и дальности бортов, балансировка по времени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56451346" name="Текст 7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Маршруты и вылеты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469804582" name="Текст 8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Галсы по ветру, развороты Дубинса, обход NFZ, нарезка по заряду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58107036" name="Текст 9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b="0">
                <a:solidFill>
                  <a:schemeClr val="accent5"/>
                </a:solidFill>
              </a:rPr>
              <a:t>Проверка и экспорт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1843382000" name="Текст 10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Уход на площадки, радиоканал, покрытие, ресурс до ТО; KML и GeoJSON на каждый борт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6478257" name="Прямая соединительная линия 33"/>
          <p:cNvCxnSpPr/>
          <p:nvPr/>
        </p:nvCxnSpPr>
        <p:spPr bwMode="auto"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302124" name="Прямая соединительная линия 34"/>
          <p:cNvCxnSpPr/>
          <p:nvPr/>
        </p:nvCxnSpPr>
        <p:spPr bwMode="auto"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401311" name="Прямая соединительная линия 35"/>
          <p:cNvCxnSpPr/>
          <p:nvPr/>
        </p:nvCxnSpPr>
        <p:spPr bwMode="auto"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323138" name="Прямая соединительная линия 36"/>
          <p:cNvCxnSpPr/>
          <p:nvPr/>
        </p:nvCxnSpPr>
        <p:spPr bwMode="auto"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783400" name="Прямая соединительная линия 37"/>
          <p:cNvCxnSpPr/>
          <p:nvPr/>
        </p:nvCxnSpPr>
        <p:spPr bwMode="auto"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90814" name="Прямая соединительная линия 38"/>
          <p:cNvCxnSpPr/>
          <p:nvPr/>
        </p:nvCxnSpPr>
        <p:spPr bwMode="auto"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9612504" name="Прямая соединительная линия 39"/>
          <p:cNvCxnSpPr/>
          <p:nvPr/>
        </p:nvCxnSpPr>
        <p:spPr bwMode="auto"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8769075" name="Прямая соединительная линия 40"/>
          <p:cNvCxnSpPr/>
          <p:nvPr/>
        </p:nvCxnSpPr>
        <p:spPr bwMode="auto"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5076173" name="Прямая соединительная линия 41"/>
          <p:cNvCxnSpPr/>
          <p:nvPr/>
        </p:nvCxnSpPr>
        <p:spPr bwMode="auto"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6018202" name="Скругленный прямоугольник 42"/>
          <p:cNvSpPr/>
          <p:nvPr/>
        </p:nvSpPr>
        <p:spPr bwMode="auto">
          <a:xfrm>
            <a:off x="1191126" y="3508049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1</a:t>
            </a:r>
            <a:endParaRPr/>
          </a:p>
        </p:txBody>
      </p:sp>
      <p:sp>
        <p:nvSpPr>
          <p:cNvPr id="298088240" name="Скругленный прямоугольник 43"/>
          <p:cNvSpPr/>
          <p:nvPr/>
        </p:nvSpPr>
        <p:spPr bwMode="auto">
          <a:xfrm>
            <a:off x="3412397" y="3506136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2</a:t>
            </a:r>
            <a:endParaRPr/>
          </a:p>
        </p:txBody>
      </p:sp>
      <p:sp>
        <p:nvSpPr>
          <p:cNvPr id="1483075521" name="Скругленный прямоугольник 44"/>
          <p:cNvSpPr/>
          <p:nvPr/>
        </p:nvSpPr>
        <p:spPr bwMode="auto">
          <a:xfrm>
            <a:off x="5658594" y="351625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3</a:t>
            </a:r>
            <a:endParaRPr/>
          </a:p>
        </p:txBody>
      </p:sp>
      <p:sp>
        <p:nvSpPr>
          <p:cNvPr id="2134845279" name="Скругленный прямоугольник 52"/>
          <p:cNvSpPr/>
          <p:nvPr/>
        </p:nvSpPr>
        <p:spPr bwMode="auto">
          <a:xfrm>
            <a:off x="7889752" y="3506134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4</a:t>
            </a:r>
            <a:endParaRPr/>
          </a:p>
        </p:txBody>
      </p:sp>
      <p:sp>
        <p:nvSpPr>
          <p:cNvPr id="1009008750" name="Скругленный прямоугольник 53"/>
          <p:cNvSpPr/>
          <p:nvPr/>
        </p:nvSpPr>
        <p:spPr bwMode="auto">
          <a:xfrm>
            <a:off x="10113011" y="3538625"/>
            <a:ext cx="874814" cy="708179"/>
          </a:xfrm>
          <a:prstGeom prst="roundRect">
            <a:avLst>
              <a:gd name="adj" fmla="val 16667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r>
              <a:rPr lang="ru-RU" sz="2400" b="1"/>
              <a:t>5</a:t>
            </a:r>
            <a:endParaRPr/>
          </a:p>
        </p:txBody>
      </p:sp>
      <p:sp>
        <p:nvSpPr>
          <p:cNvPr id="113676061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КАК РАБОТАЕТ СЕРВИС</a:t>
            </a:r>
            <a:endParaRPr lang="ru-RU"/>
          </a:p>
        </p:txBody>
      </p:sp>
      <p:sp>
        <p:nvSpPr>
          <p:cNvPr id="1503954071" name="Скругленный прямоугольник 13"/>
          <p:cNvSpPr/>
          <p:nvPr/>
        </p:nvSpPr>
        <p:spPr bwMode="auto"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800681483" name="Скругленный прямоугольник 15"/>
          <p:cNvSpPr/>
          <p:nvPr/>
        </p:nvSpPr>
        <p:spPr bwMode="auto"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09421021" name="Скругленный прямоугольник 16"/>
          <p:cNvSpPr/>
          <p:nvPr/>
        </p:nvSpPr>
        <p:spPr bwMode="auto"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677020523" name="Скругленный прямоугольник 17"/>
          <p:cNvSpPr/>
          <p:nvPr/>
        </p:nvSpPr>
        <p:spPr bwMode="auto"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  <p:sp>
        <p:nvSpPr>
          <p:cNvPr id="1332803047" name="Скругленный прямоугольник 18"/>
          <p:cNvSpPr/>
          <p:nvPr/>
        </p:nvSpPr>
        <p:spPr bwMode="auto"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>
              <a:defRPr/>
            </a:pPr>
            <a:endParaRPr lang="ru-RU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199311" name="Скругленный прямоугольник 1"/>
          <p:cNvSpPr/>
          <p:nvPr/>
        </p:nvSpPr>
        <p:spPr bwMode="auto">
          <a:xfrm>
            <a:off x="346075" y="324562"/>
            <a:ext cx="2336292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880837635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grpSp>
        <p:nvGrpSpPr>
          <p:cNvPr id="1025393122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fill="norm" stroke="1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/>
                </a:bodyPr>
                <a:lstStyle/>
                <a:p>
                  <a:pPr>
                    <a:defRPr/>
                  </a:pPr>
                  <a:endParaRPr lang="id-ID">
                    <a:latin typeface="Lato Light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fill="norm" stroke="1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/>
              </a:bodyPr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Lato Light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www.</a:t>
              </a:r>
              <a:r>
                <a:rPr lang="en-US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lider</a:t>
              </a:r>
              <a:r>
                <a:rPr lang="id-ID" sz="1000">
                  <a:solidFill>
                    <a:schemeClr val="tx1"/>
                  </a:solidFill>
                  <a:latin typeface="Poppins Light"/>
                  <a:ea typeface="Poppins Light"/>
                  <a:cs typeface="Poppins Light"/>
                </a:rPr>
                <a:t>.com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fill="norm" stroke="1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/>
            </a:bodyPr>
            <a:lstStyle/>
            <a:p>
              <a:pPr>
                <a:defRPr/>
              </a:pPr>
              <a:endParaRPr lang="id-ID">
                <a:latin typeface="Lato Light"/>
              </a:endParaRPr>
            </a:p>
          </p:txBody>
        </p:sp>
      </p:grpSp>
      <p:sp>
        <p:nvSpPr>
          <p:cNvPr id="80279196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accent5"/>
                </a:solidFill>
              </a:rPr>
              <a:t>12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23157208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Фронт Парето и график вылетов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Каждая точка — недоминируемый план: левее быстрее, ниже меньше налёт. Щелчок открывает план на карте.</a:t>
            </a:r>
          </a:p>
        </p:txBody>
      </p:sp>
      <p:sp>
        <p:nvSpPr>
          <p:cNvPr id="1172478958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b="1">
                <a:solidFill>
                  <a:schemeClr val="tx1"/>
                </a:solidFill>
              </a:rPr>
              <a:t>110 км², 5 бортов, 2 ВПП</a:t>
            </a:r>
            <a:endParaRPr lang="ru-RU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ru-RU">
                <a:solidFill>
                  <a:schemeClr val="tx1"/>
                </a:solidFill>
              </a:rPr>
              <a:t>Самолёты берут дальние участки, коптеры работают у своих баз в пределах радиуса действия.</a:t>
            </a:r>
          </a:p>
        </p:txBody>
      </p:sp>
      <p:pic>
        <p:nvPicPr>
          <p:cNvPr id="299969931" name="Рисунок 4" descr="Интерфейс: фронт Парето, показатели плана и маршруты на карте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115" b="115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082618591" name="Рисунок 5" descr="Интерфейс: план для 110 км² с пятью бортами и двумя ВПП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t="115" b="115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945930100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ИНТЕРФЕЙС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2026-09-18T09:14:14Z</dcterms:modified>
</cp:coreProperties>
</file>